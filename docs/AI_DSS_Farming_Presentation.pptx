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ROC-AUC by Risk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4A9B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9B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6B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922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Crop Failure</c:v>
                  </c:pt>
                  <c:pt idx="1">
                    <c:v>Soil Degrad.</c:v>
                  </c:pt>
                  <c:pt idx="2">
                    <c:v>Drought Stress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0.93</c:v>
                </c:pt>
                <c:pt idx="1">
                  <c:v>0.98</c:v>
                </c:pt>
                <c:pt idx="2">
                  <c:v>0.88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CC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6350" cap="flat">
              <a:solidFill>
                <a:srgbClr val="2E6B3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CC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4D2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QSSM District Scores (Sample)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QSSM Score</c:v>
                </c:pt>
              </c:strCache>
            </c:strRef>
          </c:tx>
          <c:spPr>
            <a:solidFill>
              <a:srgbClr val="4A9B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9B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9B5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9B5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922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922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922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C444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C4444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District 1</c:v>
                  </c:pt>
                  <c:pt idx="1">
                    <c:v>District 2</c:v>
                  </c:pt>
                  <c:pt idx="2">
                    <c:v>District 3</c:v>
                  </c:pt>
                  <c:pt idx="3">
                    <c:v>District 4</c:v>
                  </c:pt>
                  <c:pt idx="4">
                    <c:v>District 5</c:v>
                  </c:pt>
                  <c:pt idx="5">
                    <c:v>District 6</c:v>
                  </c:pt>
                  <c:pt idx="6">
                    <c:v>District 7</c:v>
                  </c:pt>
                  <c:pt idx="7">
                    <c:v>District 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52</c:v>
                </c:pt>
                <c:pt idx="1">
                  <c:v>49</c:v>
                </c:pt>
                <c:pt idx="2">
                  <c:v>47</c:v>
                </c:pt>
                <c:pt idx="3">
                  <c:v>43</c:v>
                </c:pt>
                <c:pt idx="4">
                  <c:v>41</c:v>
                </c:pt>
                <c:pt idx="5">
                  <c:v>36</c:v>
                </c:pt>
                <c:pt idx="6">
                  <c:v>33</c:v>
                </c:pt>
                <c:pt idx="7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CC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E6B3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CC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4D2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560320" cy="292608"/>
          </a:xfrm>
          <a:prstGeom prst="roundRect">
            <a:avLst>
              <a:gd name="adj" fmla="val 18750"/>
            </a:avLst>
          </a:prstGeom>
          <a:solidFill>
            <a:srgbClr val="4A9B5F"/>
          </a:solidFill>
          <a:ln w="12700">
            <a:solidFill>
              <a:srgbClr val="4A9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FINAL YEAR PROJECT  •  B.TECH AI &amp; DS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384048" y="621792"/>
            <a:ext cx="118872" cy="11887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621792"/>
            <a:ext cx="118872" cy="11887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621792"/>
            <a:ext cx="118872" cy="11887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621792"/>
            <a:ext cx="118872" cy="11887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621792"/>
            <a:ext cx="118872" cy="11887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89888" y="621792"/>
            <a:ext cx="118872" cy="11887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686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Decision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System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65760" y="2542032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Sustainable Farming Practices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65760" y="3127248"/>
            <a:ext cx="2286000" cy="64008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0690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Ms. Ashpinder Kaur, Assistant Professor, Dept. of CSE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37083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CGC College of Engineering, Landran, Mohali  |  April 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-457200"/>
            <a:ext cx="3474720" cy="3474720"/>
          </a:xfrm>
          <a:prstGeom prst="ellipse">
            <a:avLst/>
          </a:prstGeom>
          <a:solidFill>
            <a:srgbClr val="2E6B3E">
              <a:alpha val="70000"/>
            </a:srgbClr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2926080"/>
            <a:ext cx="2286000" cy="2286000"/>
          </a:xfrm>
          <a:prstGeom prst="ellipse">
            <a:avLst/>
          </a:prstGeom>
          <a:solidFill>
            <a:srgbClr val="5A4010">
              <a:alpha val="60000"/>
            </a:srgbClr>
          </a:solidFill>
          <a:ln w="12700">
            <a:solidFill>
              <a:srgbClr val="5A4010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320040"/>
            <a:ext cx="1463040" cy="1463040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9202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51760" cy="514350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137160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" y="18288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37160" y="2926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Punjab's Agriculture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Crossroads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743200" y="182880"/>
            <a:ext cx="3200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0" y="182880"/>
            <a:ext cx="64008" cy="150876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80360" y="411480"/>
            <a:ext cx="411480" cy="411480"/>
          </a:xfrm>
          <a:prstGeom prst="ellipse">
            <a:avLst/>
          </a:prstGeom>
          <a:solidFill>
            <a:srgbClr val="2E6B3E">
              <a:alpha val="80000"/>
            </a:srgbClr>
          </a:solidFill>
          <a:ln w="12700">
            <a:solidFill>
              <a:srgbClr val="2E6B3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936" y="44805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384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Degradation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383280" y="71323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carbon avg 0.595%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below 0.75% threshold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035040" y="182880"/>
            <a:ext cx="3200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035040" y="182880"/>
            <a:ext cx="64008" cy="1508760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72200" y="411480"/>
            <a:ext cx="411480" cy="411480"/>
          </a:xfrm>
          <a:prstGeom prst="ellipse">
            <a:avLst/>
          </a:prstGeom>
          <a:solidFill>
            <a:srgbClr val="1B6B7B">
              <a:alpha val="80000"/>
            </a:srgbClr>
          </a:solidFill>
          <a:ln w="12700">
            <a:solidFill>
              <a:srgbClr val="1B6B7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448056"/>
            <a:ext cx="338328" cy="3383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75120" y="384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Crisis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675120" y="71323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stress in &gt;64%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observations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2743200" y="1828800"/>
            <a:ext cx="3200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743200" y="1828800"/>
            <a:ext cx="64008" cy="1508760"/>
          </a:xfrm>
          <a:prstGeom prst="rect">
            <a:avLst/>
          </a:prstGeom>
          <a:solidFill>
            <a:srgbClr val="7A5C1E"/>
          </a:solidFill>
          <a:ln w="12700">
            <a:solidFill>
              <a:srgbClr val="7A5C1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880360" y="2057400"/>
            <a:ext cx="411480" cy="411480"/>
          </a:xfrm>
          <a:prstGeom prst="ellipse">
            <a:avLst/>
          </a:prstGeom>
          <a:solidFill>
            <a:srgbClr val="7A5C1E">
              <a:alpha val="80000"/>
            </a:srgbClr>
          </a:solidFill>
          <a:ln w="12700">
            <a:solidFill>
              <a:srgbClr val="7A5C1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936" y="209397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383280" y="20299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Monoculture Lock-in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3383280" y="235915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Wheat–Rice dominance;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biodiversity declining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035040" y="1828800"/>
            <a:ext cx="3200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035040" y="1828800"/>
            <a:ext cx="64008" cy="1508760"/>
          </a:xfrm>
          <a:prstGeom prst="rect">
            <a:avLst/>
          </a:prstGeom>
          <a:solidFill>
            <a:srgbClr val="5B4A8A"/>
          </a:solidFill>
          <a:ln w="12700">
            <a:solidFill>
              <a:srgbClr val="5B4A8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172200" y="2057400"/>
            <a:ext cx="411480" cy="411480"/>
          </a:xfrm>
          <a:prstGeom prst="ellipse">
            <a:avLst/>
          </a:prstGeom>
          <a:solidFill>
            <a:srgbClr val="5B4A8A">
              <a:alpha val="80000"/>
            </a:srgbClr>
          </a:solidFill>
          <a:ln w="12700">
            <a:solidFill>
              <a:srgbClr val="5B4A8A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776" y="2093976"/>
            <a:ext cx="338328" cy="33832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675120" y="20299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Access Gap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6675120" y="235915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farmers unaware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PM-KISAN, PMFBY, PMKSY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2743200" y="3474720"/>
            <a:ext cx="3200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743200" y="3474720"/>
            <a:ext cx="64008" cy="150876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2880360" y="3703320"/>
            <a:ext cx="411480" cy="411480"/>
          </a:xfrm>
          <a:prstGeom prst="ellipse">
            <a:avLst/>
          </a:prstGeom>
          <a:solidFill>
            <a:srgbClr val="A0522D">
              <a:alpha val="80000"/>
            </a:srgbClr>
          </a:solidFill>
          <a:ln w="12700">
            <a:solidFill>
              <a:srgbClr val="A0522D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6936" y="3739896"/>
            <a:ext cx="338328" cy="33832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383280" y="36758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3383280" y="400507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portals; no unified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6035040" y="3474720"/>
            <a:ext cx="3200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035040" y="3474720"/>
            <a:ext cx="64008" cy="1508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172200" y="3703320"/>
            <a:ext cx="411480" cy="411480"/>
          </a:xfrm>
          <a:prstGeom prst="ellipse">
            <a:avLst/>
          </a:prstGeom>
          <a:solidFill>
            <a:srgbClr val="8B1A1A">
              <a:alpha val="80000"/>
            </a:srgbClr>
          </a:solidFill>
          <a:ln w="12700">
            <a:solidFill>
              <a:srgbClr val="8B1A1A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8776" y="3739896"/>
            <a:ext cx="338328" cy="33832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675120" y="36758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Decline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6675120" y="400507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7,971 → 7,745 kg/ha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(2019–2022)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PUNJAB MASTER DATASET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AI-Driven Intelligence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868680"/>
            <a:ext cx="2057400" cy="137160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9601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12,880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2880" y="1737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868680"/>
            <a:ext cx="2057400" cy="1371600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9601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23160" y="1737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868680"/>
            <a:ext cx="2057400" cy="1371600"/>
          </a:xfrm>
          <a:prstGeom prst="rect">
            <a:avLst/>
          </a:prstGeom>
          <a:solidFill>
            <a:srgbClr val="7A5C1E"/>
          </a:solidFill>
          <a:ln w="12700">
            <a:solidFill>
              <a:srgbClr val="7A5C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9601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63440" y="1737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Record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03720" y="868680"/>
            <a:ext cx="2057400" cy="1371600"/>
          </a:xfrm>
          <a:prstGeom prst="rect">
            <a:avLst/>
          </a:prstGeom>
          <a:solidFill>
            <a:srgbClr val="5B4A8A"/>
          </a:solidFill>
          <a:ln w="12700">
            <a:solidFill>
              <a:srgbClr val="5B4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9601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Yrs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903720" y="1737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2016–2022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2377440"/>
            <a:ext cx="4297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2377440"/>
            <a:ext cx="54864" cy="1371600"/>
          </a:xfrm>
          <a:prstGeom prst="rect">
            <a:avLst/>
          </a:prstGeom>
          <a:solidFill>
            <a:srgbClr val="4A9B5F"/>
          </a:solidFill>
          <a:ln w="12700">
            <a:solidFill>
              <a:srgbClr val="4A9B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5603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Covered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" y="292608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· Rice · Maize · Cotton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Barley · Gram · Vegetables · Fodder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377440"/>
            <a:ext cx="4297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377440"/>
            <a:ext cx="54864" cy="1371600"/>
          </a:xfrm>
          <a:prstGeom prst="rect">
            <a:avLst/>
          </a:prstGeom>
          <a:solidFill>
            <a:srgbClr val="4A9B5F"/>
          </a:solidFill>
          <a:ln w="12700">
            <a:solidFill>
              <a:srgbClr val="4A9B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5603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8032" y="292608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Kharif  ·  Rabi  ·  Zaid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2880" y="3520440"/>
            <a:ext cx="4297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3520440"/>
            <a:ext cx="54864" cy="1371600"/>
          </a:xfrm>
          <a:prstGeom prst="rect">
            <a:avLst/>
          </a:prstGeom>
          <a:solidFill>
            <a:srgbClr val="4A9B5F"/>
          </a:solidFill>
          <a:ln w="12700">
            <a:solidFill>
              <a:srgbClr val="4A9B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7033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Parameters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7472" y="406908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pH, N, P, K, Organic Carbon, Fertility Score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520440"/>
            <a:ext cx="4297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520440"/>
            <a:ext cx="54864" cy="1371600"/>
          </a:xfrm>
          <a:prstGeom prst="rect">
            <a:avLst/>
          </a:prstGeom>
          <a:solidFill>
            <a:srgbClr val="4A9B5F"/>
          </a:solidFill>
          <a:ln w="12700">
            <a:solidFill>
              <a:srgbClr val="4A9B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7033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Parameters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28032" y="406908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Rainfall, Humidity, Water Stress Index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4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AI-DSS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intelligence pipeline from raw data to actionable farmer guidance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1B6B7B">
              <a:alpha val="95000"/>
            </a:srgbClr>
          </a:solidFill>
          <a:ln w="12700">
            <a:solidFill>
              <a:srgbClr val="1B6B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234440"/>
            <a:ext cx="502920" cy="502920"/>
          </a:xfrm>
          <a:prstGeom prst="ellipse">
            <a:avLst/>
          </a:prstGeom>
          <a:solidFill>
            <a:srgbClr val="1B6B7B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16128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&amp; AGGREGATION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· PostgreSQL+PostGIS warehouse · NASA POWER · SoilGrids · OpenCage APIs · 15+ govt portals</a:t>
            </a:r>
            <a:endParaRPr lang="en-US" sz="9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234440"/>
            <a:ext cx="502920" cy="502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297680" y="1920240"/>
            <a:ext cx="502920" cy="109728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2029968"/>
            <a:ext cx="8595360" cy="868680"/>
          </a:xfrm>
          <a:prstGeom prst="rect">
            <a:avLst/>
          </a:prstGeom>
          <a:solidFill>
            <a:srgbClr val="2E6B3E">
              <a:alpha val="95000"/>
            </a:srgbClr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4048" y="2212848"/>
            <a:ext cx="502920" cy="502920"/>
          </a:xfrm>
          <a:prstGeom prst="ellipse">
            <a:avLst/>
          </a:prstGeom>
          <a:solidFill>
            <a:srgbClr val="2E6B3E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05840" y="213969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&amp; LAND ANALYSIS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5840" y="248716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Stakeholder types · Soil/water/biodiversity profiling · Economic vulnerability classification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212848"/>
            <a:ext cx="502920" cy="5029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297680" y="2898648"/>
            <a:ext cx="502920" cy="109728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74320" y="3008376"/>
            <a:ext cx="8595360" cy="868680"/>
          </a:xfrm>
          <a:prstGeom prst="rect">
            <a:avLst/>
          </a:prstGeom>
          <a:solidFill>
            <a:srgbClr val="7A5C1E">
              <a:alpha val="95000"/>
            </a:srgbClr>
          </a:solidFill>
          <a:ln w="12700">
            <a:solidFill>
              <a:srgbClr val="7A5C1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84048" y="3191256"/>
            <a:ext cx="502920" cy="502920"/>
          </a:xfrm>
          <a:prstGeom prst="ellipse">
            <a:avLst/>
          </a:prstGeom>
          <a:solidFill>
            <a:srgbClr val="7A5C1E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84048" y="3191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005840" y="311810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FARMING INTELLIGENCE (QSSM)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005840" y="346557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Five-dimensional sustainability scoring (0–100) · Practices DB · Government schemes DB · Rule-based engine</a:t>
            </a:r>
            <a:endParaRPr lang="en-US" sz="9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3191256"/>
            <a:ext cx="502920" cy="50292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4297680" y="3877056"/>
            <a:ext cx="502920" cy="109728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274320" y="3986784"/>
            <a:ext cx="8595360" cy="868680"/>
          </a:xfrm>
          <a:prstGeom prst="rect">
            <a:avLst/>
          </a:prstGeom>
          <a:solidFill>
            <a:srgbClr val="5B4A8A">
              <a:alpha val="95000"/>
            </a:srgbClr>
          </a:solidFill>
          <a:ln w="12700">
            <a:solidFill>
              <a:srgbClr val="5B4A8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84048" y="4169664"/>
            <a:ext cx="502920" cy="502920"/>
          </a:xfrm>
          <a:prstGeom prst="ellipse">
            <a:avLst/>
          </a:prstGeom>
          <a:solidFill>
            <a:srgbClr val="5B4A8A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84048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1005840" y="40965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SUPPORT ENGINE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1005840" y="444398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· RAG Advisory Pipeline · FAISS vector store · SHAP explainability · LSTM forecaster</a:t>
            </a:r>
            <a:endParaRPr lang="en-US" sz="95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169664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SUSTAINABILITY SCORING MODEL (QSSM)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0" y="1508760"/>
            <a:ext cx="1347951" cy="979344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33951" y="2488104"/>
            <a:ext cx="-514872" cy="158461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19080" y="4072716"/>
            <a:ext cx="-16661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52920" y="4072716"/>
            <a:ext cx="-514872" cy="-158461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8049" y="2488104"/>
            <a:ext cx="1347951" cy="-979344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2926080"/>
            <a:ext cx="0" cy="-141732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2926080"/>
            <a:ext cx="1347951" cy="-4379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2926080"/>
            <a:ext cx="833080" cy="114663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2926080"/>
            <a:ext cx="-833080" cy="114663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2926080"/>
            <a:ext cx="-1347951" cy="-4379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0" y="1508760"/>
            <a:ext cx="1347951" cy="979344"/>
          </a:xfrm>
          <a:prstGeom prst="line">
            <a:avLst/>
          </a:prstGeom>
          <a:noFill/>
          <a:ln w="25400">
            <a:solidFill>
              <a:srgbClr val="2E6B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33951" y="2488104"/>
            <a:ext cx="-514872" cy="1584612"/>
          </a:xfrm>
          <a:prstGeom prst="line">
            <a:avLst/>
          </a:prstGeom>
          <a:noFill/>
          <a:ln w="25400">
            <a:solidFill>
              <a:srgbClr val="2E6B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19080" y="4072716"/>
            <a:ext cx="-1666160" cy="0"/>
          </a:xfrm>
          <a:prstGeom prst="line">
            <a:avLst/>
          </a:prstGeom>
          <a:noFill/>
          <a:ln w="25400">
            <a:solidFill>
              <a:srgbClr val="2E6B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52920" y="4072716"/>
            <a:ext cx="-514872" cy="-1584612"/>
          </a:xfrm>
          <a:prstGeom prst="line">
            <a:avLst/>
          </a:prstGeom>
          <a:noFill/>
          <a:ln w="25400">
            <a:solidFill>
              <a:srgbClr val="2E6B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8049" y="2488104"/>
            <a:ext cx="1347951" cy="-979344"/>
          </a:xfrm>
          <a:prstGeom prst="line">
            <a:avLst/>
          </a:prstGeom>
          <a:noFill/>
          <a:ln w="25400">
            <a:solidFill>
              <a:srgbClr val="2E6B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2384664"/>
            <a:ext cx="469087" cy="389001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55087" y="2773664"/>
            <a:ext cx="-169178" cy="565205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85909" y="3338869"/>
            <a:ext cx="-612314" cy="1720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73595" y="3356068"/>
            <a:ext cx="-389878" cy="-658174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3717" y="2697895"/>
            <a:ext cx="702283" cy="-313231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4434840"/>
            <a:ext cx="201168" cy="1097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07008" y="440740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6B"/>
                </a:solidFill>
              </a:rPr>
              <a:t>Punjab 2022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0" y="4434840"/>
            <a:ext cx="201168" cy="109728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23744" y="44074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6B"/>
                </a:solidFill>
              </a:rPr>
              <a:t>AI-DSS Target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206240" y="1097280"/>
            <a:ext cx="1645920" cy="1645920"/>
          </a:xfrm>
          <a:prstGeom prst="ellipse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10972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QSSM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989320" y="822960"/>
            <a:ext cx="2971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89320" y="822960"/>
            <a:ext cx="50292" cy="73152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987552"/>
            <a:ext cx="347472" cy="347472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537960" y="914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Health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537960" y="122529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25%  |  Punjab: 38.2/100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989320" y="1664208"/>
            <a:ext cx="2971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989320" y="1664208"/>
            <a:ext cx="50292" cy="731520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28800"/>
            <a:ext cx="347472" cy="347472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6537960" y="1755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Stewardship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6537960" y="20665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20%  |  Punjab: 34.8/100 ⚠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5989320" y="2505456"/>
            <a:ext cx="2971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5989320" y="2505456"/>
            <a:ext cx="50292" cy="731520"/>
          </a:xfrm>
          <a:prstGeom prst="rect">
            <a:avLst/>
          </a:prstGeom>
          <a:solidFill>
            <a:srgbClr val="7A5C1E"/>
          </a:solidFill>
          <a:ln w="12700">
            <a:solidFill>
              <a:srgbClr val="7A5C1E"/>
            </a:solidFill>
            <a:prstDash val="solid"/>
          </a:ln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670048"/>
            <a:ext cx="347472" cy="347472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6537960" y="25968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Reduction</a:t>
            </a:r>
            <a:endParaRPr lang="en-US" sz="1050" dirty="0"/>
          </a:p>
        </p:txBody>
      </p:sp>
      <p:sp>
        <p:nvSpPr>
          <p:cNvPr id="44" name="Text 39"/>
          <p:cNvSpPr/>
          <p:nvPr/>
        </p:nvSpPr>
        <p:spPr>
          <a:xfrm>
            <a:off x="6537960" y="29077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20%  |  Punjab: 36.0/100</a:t>
            </a:r>
            <a:endParaRPr lang="en-US" sz="850" dirty="0"/>
          </a:p>
        </p:txBody>
      </p:sp>
      <p:sp>
        <p:nvSpPr>
          <p:cNvPr id="45" name="Shape 40"/>
          <p:cNvSpPr/>
          <p:nvPr/>
        </p:nvSpPr>
        <p:spPr>
          <a:xfrm>
            <a:off x="5989320" y="3346704"/>
            <a:ext cx="2971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6" name="Shape 41"/>
          <p:cNvSpPr/>
          <p:nvPr/>
        </p:nvSpPr>
        <p:spPr>
          <a:xfrm>
            <a:off x="5989320" y="3346704"/>
            <a:ext cx="50292" cy="731520"/>
          </a:xfrm>
          <a:prstGeom prst="rect">
            <a:avLst/>
          </a:prstGeom>
          <a:solidFill>
            <a:srgbClr val="4A7A2A"/>
          </a:solidFill>
          <a:ln w="12700">
            <a:solidFill>
              <a:srgbClr val="4A7A2A"/>
            </a:solidFill>
            <a:prstDash val="solid"/>
          </a:ln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511296"/>
            <a:ext cx="347472" cy="347472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6537960" y="34381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Biodiversity</a:t>
            </a:r>
            <a:endParaRPr lang="en-US" sz="1050" dirty="0"/>
          </a:p>
        </p:txBody>
      </p:sp>
      <p:sp>
        <p:nvSpPr>
          <p:cNvPr id="49" name="Text 43"/>
          <p:cNvSpPr/>
          <p:nvPr/>
        </p:nvSpPr>
        <p:spPr>
          <a:xfrm>
            <a:off x="6537960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20%  |  Punjab: 37.5/100</a:t>
            </a:r>
            <a:endParaRPr lang="en-US" sz="850" dirty="0"/>
          </a:p>
        </p:txBody>
      </p:sp>
      <p:sp>
        <p:nvSpPr>
          <p:cNvPr id="50" name="Shape 44"/>
          <p:cNvSpPr/>
          <p:nvPr/>
        </p:nvSpPr>
        <p:spPr>
          <a:xfrm>
            <a:off x="5989320" y="4187952"/>
            <a:ext cx="2971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1" name="Shape 45"/>
          <p:cNvSpPr/>
          <p:nvPr/>
        </p:nvSpPr>
        <p:spPr>
          <a:xfrm>
            <a:off x="5989320" y="4187952"/>
            <a:ext cx="50292" cy="731520"/>
          </a:xfrm>
          <a:prstGeom prst="rect">
            <a:avLst/>
          </a:prstGeom>
          <a:solidFill>
            <a:srgbClr val="5B4A8A"/>
          </a:solidFill>
          <a:ln w="12700">
            <a:solidFill>
              <a:srgbClr val="5B4A8A"/>
            </a:solidFill>
            <a:prstDash val="solid"/>
          </a:ln>
        </p:spPr>
      </p:sp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352544"/>
            <a:ext cx="347472" cy="347472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6537960" y="4279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Resilience</a:t>
            </a:r>
            <a:endParaRPr lang="en-US" sz="1050" dirty="0"/>
          </a:p>
        </p:txBody>
      </p:sp>
      <p:sp>
        <p:nvSpPr>
          <p:cNvPr id="54" name="Text 47"/>
          <p:cNvSpPr/>
          <p:nvPr/>
        </p:nvSpPr>
        <p:spPr>
          <a:xfrm>
            <a:off x="6537960" y="45902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15%  |  Punjab: 52.1/100</a:t>
            </a:r>
            <a:endParaRPr lang="en-US" sz="850" dirty="0"/>
          </a:p>
        </p:txBody>
      </p:sp>
      <p:sp>
        <p:nvSpPr>
          <p:cNvPr id="55" name="Shape 48"/>
          <p:cNvSpPr/>
          <p:nvPr/>
        </p:nvSpPr>
        <p:spPr>
          <a:xfrm>
            <a:off x="4160520" y="2880360"/>
            <a:ext cx="1783080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6" name="Text 49"/>
          <p:cNvSpPr/>
          <p:nvPr/>
        </p:nvSpPr>
        <p:spPr>
          <a:xfrm>
            <a:off x="4160520" y="288036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QSSM: 41.3 / 100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Random Forest · K-Means · LSTM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4297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22960"/>
            <a:ext cx="4297680" cy="45720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8686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914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Recommendation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92608" y="1353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92608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crop ranking by soil pH, organic carbon, water stress, temperature, and NPK.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108960" y="1325880"/>
            <a:ext cx="1234440" cy="100584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0" y="132588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93.2%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108960" y="20574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663440" y="822960"/>
            <a:ext cx="4297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822960"/>
            <a:ext cx="4297680" cy="457200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86868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73168" y="914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Prediction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773168" y="1353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Regressor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773168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expected yield per hectare using 31 farm parameters.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7589520" y="1325880"/>
            <a:ext cx="1234440" cy="1005840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589520" y="132588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 kg/ha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R²=0.87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589520" y="20574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/ R²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182880" y="2834640"/>
            <a:ext cx="4297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182880" y="2834640"/>
            <a:ext cx="4297680" cy="457200"/>
          </a:xfrm>
          <a:prstGeom prst="rect">
            <a:avLst/>
          </a:prstGeom>
          <a:solidFill>
            <a:srgbClr val="A05020"/>
          </a:solidFill>
          <a:ln w="12700">
            <a:solidFill>
              <a:srgbClr val="A05020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88036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92608" y="29260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Detection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292608" y="3364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5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Random Forest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292608" y="3657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drought stress (AUC 0.88), soil degradation (0.84), crop failure (0.93).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3108960" y="3337560"/>
            <a:ext cx="1234440" cy="1005840"/>
          </a:xfrm>
          <a:prstGeom prst="rect">
            <a:avLst/>
          </a:prstGeom>
          <a:solidFill>
            <a:srgbClr val="A05020"/>
          </a:solidFill>
          <a:ln w="12700">
            <a:solidFill>
              <a:srgbClr val="A0502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108960" y="333756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3108960" y="40690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AUC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4663440" y="2834640"/>
            <a:ext cx="4297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663440" y="2834640"/>
            <a:ext cx="4297680" cy="457200"/>
          </a:xfrm>
          <a:prstGeom prst="rect">
            <a:avLst/>
          </a:prstGeom>
          <a:solidFill>
            <a:srgbClr val="5B4A8A"/>
          </a:solidFill>
          <a:ln w="12700">
            <a:solidFill>
              <a:srgbClr val="5B4A8A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880360"/>
            <a:ext cx="365760" cy="36576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4773168" y="29260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Segmentation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4773168" y="3364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(k=6)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4773168" y="3657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clusters: smallholder, tenant, commercial, women-led, FPO-affiliated, officer-connected.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7589520" y="3337560"/>
            <a:ext cx="1234440" cy="1005840"/>
          </a:xfrm>
          <a:prstGeom prst="rect">
            <a:avLst/>
          </a:prstGeom>
          <a:solidFill>
            <a:srgbClr val="5B4A8A"/>
          </a:solidFill>
          <a:ln w="12700">
            <a:solidFill>
              <a:srgbClr val="5B4A8A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589520" y="333756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1600" dirty="0"/>
          </a:p>
        </p:txBody>
      </p:sp>
      <p:sp>
        <p:nvSpPr>
          <p:cNvPr id="40" name="Text 34"/>
          <p:cNvSpPr/>
          <p:nvPr/>
        </p:nvSpPr>
        <p:spPr>
          <a:xfrm>
            <a:off x="7589520" y="40690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&amp; RAG ADVISORY PIPELINE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0233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77240"/>
            <a:ext cx="4023360" cy="41148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" y="1353312"/>
            <a:ext cx="2995574" cy="347472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371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Carbon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01568" y="13898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" y="2011680"/>
            <a:ext cx="2765146" cy="34747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0299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Stress Index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01568" y="20482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" y="2670048"/>
            <a:ext cx="2501798" cy="34747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6883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pH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01568" y="2706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" y="3328416"/>
            <a:ext cx="2040941" cy="347472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3467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01568" y="33649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" y="3986784"/>
            <a:ext cx="1777594" cy="347472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40050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 Adequacy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01568" y="4023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" y="4645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SHAP Feature Importances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(Crop Recommendation Model)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389120" y="777240"/>
            <a:ext cx="45720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777240"/>
            <a:ext cx="4572000" cy="41148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7772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Advisory Pipeline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36592" y="1700784"/>
            <a:ext cx="0" cy="310896"/>
          </a:xfrm>
          <a:prstGeom prst="line">
            <a:avLst/>
          </a:prstGeom>
          <a:noFill/>
          <a:ln w="19050">
            <a:solidFill>
              <a:srgbClr val="2E6B3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44568" y="1353312"/>
            <a:ext cx="384048" cy="384048"/>
          </a:xfrm>
          <a:prstGeom prst="ellipse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44568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13716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query embedded via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(MiniLM-L6)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36592" y="2359152"/>
            <a:ext cx="0" cy="310896"/>
          </a:xfrm>
          <a:prstGeom prst="line">
            <a:avLst/>
          </a:prstGeom>
          <a:noFill/>
          <a:ln w="19050">
            <a:solidFill>
              <a:srgbClr val="2E6B3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44568" y="2011680"/>
            <a:ext cx="384048" cy="384048"/>
          </a:xfrm>
          <a:prstGeom prst="ellipse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4456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2029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docs retrieved from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knowledge store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36592" y="3017520"/>
            <a:ext cx="0" cy="310896"/>
          </a:xfrm>
          <a:prstGeom prst="line">
            <a:avLst/>
          </a:prstGeom>
          <a:noFill/>
          <a:ln w="19050">
            <a:solidFill>
              <a:srgbClr val="2E6B3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44568" y="2670048"/>
            <a:ext cx="384048" cy="384048"/>
          </a:xfrm>
          <a:prstGeom prst="ellipse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44568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0" y="26883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predictions + SHAP context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to phi3 / Mistral 7B (Ollama)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36592" y="3675888"/>
            <a:ext cx="0" cy="310896"/>
          </a:xfrm>
          <a:prstGeom prst="line">
            <a:avLst/>
          </a:prstGeom>
          <a:noFill/>
          <a:ln w="19050">
            <a:solidFill>
              <a:srgbClr val="2E6B3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44568" y="3328416"/>
            <a:ext cx="384048" cy="384048"/>
          </a:xfrm>
          <a:prstGeom prst="ellipse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44568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0" y="33467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advisory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locally (data-private)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44568" y="3986784"/>
            <a:ext cx="384048" cy="384048"/>
          </a:xfrm>
          <a:prstGeom prst="ellipse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44568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29200" y="40050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output: crop · yield ·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· schemes · SHAP explanation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4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&amp;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852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across 12,880 records · 23 districts · 8 crops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011680" cy="141732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24128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93.2%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28600" y="1783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Recommendation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(XGBoost)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23160" y="960120"/>
            <a:ext cx="2011680" cy="1417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024128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23160" y="1783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Prediction RMSE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kg/ha | R²=0.87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2011680" cy="1417320"/>
          </a:xfrm>
          <a:prstGeom prst="rect">
            <a:avLst/>
          </a:prstGeom>
          <a:solidFill>
            <a:srgbClr val="4A8EB5"/>
          </a:solidFill>
          <a:ln w="12700">
            <a:solidFill>
              <a:srgbClr val="4A8E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024128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17720" y="1783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Detection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AUC (3 categories)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12280" y="960120"/>
            <a:ext cx="2011680" cy="1417320"/>
          </a:xfrm>
          <a:prstGeom prst="rect">
            <a:avLst/>
          </a:prstGeom>
          <a:solidFill>
            <a:srgbClr val="E08020"/>
          </a:solidFill>
          <a:ln w="12700">
            <a:solidFill>
              <a:srgbClr val="E08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024128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12280" y="1783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QSSM Score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 (Punjab dataset)</a:t>
            </a:r>
            <a:endParaRPr lang="en-US" sz="9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28600" y="2514600"/>
          <a:ext cx="411480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Chart 1" descr=""/>
          <p:cNvGraphicFramePr/>
          <p:nvPr/>
        </p:nvGraphicFramePr>
        <p:xfrm>
          <a:off x="4663440" y="2514600"/>
          <a:ext cx="425196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RECOMMENDATION OUTPUT &amp; TECHNOLOGY STACK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983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77240"/>
            <a:ext cx="4983480" cy="41148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— Ludhiana Farm Profile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600200" y="129844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ac · Loam · Water Stress 0.71 · OC 0.48%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81965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QSSM Score: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00200" y="181965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100  (Water: 22 | Soil: 29)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34086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Crop (Rabi):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00200" y="234086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Barley — Confidence 88%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28620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1: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00200" y="28620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Drip Irrigation → +14 QSSM pts (3 yr)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PMKSY eligible — up to 90% subsidy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33832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2: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00200" y="3383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Tillage + Residue Mgmt → +8 QSSM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Soil Health Card Scheme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390448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Alert: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600200" y="39044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Soil Degradation Risk (p=0.74)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Driven by low OC + declining yield trend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49240" y="77724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49240" y="777240"/>
            <a:ext cx="3611880" cy="41148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7772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8112" y="1362456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806440" y="12984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766560" y="12984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+ SQLAlchemy</a:t>
            </a:r>
            <a:endParaRPr lang="en-US" sz="9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112" y="1883664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806440" y="181965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766560" y="181965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 + Redis</a:t>
            </a:r>
            <a:endParaRPr lang="en-US" sz="9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2404872"/>
            <a:ext cx="256032" cy="25603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806440" y="234086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Models: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766560" y="234086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XGBoost · TensorFlow</a:t>
            </a:r>
            <a:endParaRPr lang="en-US" sz="9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2926080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806440" y="28620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Store: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6766560" y="28620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sentence-transformers</a:t>
            </a:r>
            <a:endParaRPr lang="en-US" sz="9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8112" y="3447288"/>
            <a:ext cx="256032" cy="25603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806440" y="3383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LLM/RAG: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6766560" y="3383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phi3 / Mistral 7B (local)</a:t>
            </a:r>
            <a:endParaRPr lang="en-US" sz="9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8112" y="3968496"/>
            <a:ext cx="256032" cy="25603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806440" y="390448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6766560" y="39044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Streamlit dashboard</a:t>
            </a:r>
            <a:endParaRPr lang="en-US" sz="90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8112" y="4489704"/>
            <a:ext cx="256032" cy="25603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806440" y="442569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</a:t>
            </a:r>
            <a:endParaRPr lang="en-US" sz="950" dirty="0"/>
          </a:p>
        </p:txBody>
      </p:sp>
      <p:sp>
        <p:nvSpPr>
          <p:cNvPr id="42" name="Text 33"/>
          <p:cNvSpPr/>
          <p:nvPr/>
        </p:nvSpPr>
        <p:spPr>
          <a:xfrm>
            <a:off x="6766560" y="442569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+ S3 deployment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54864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77240"/>
            <a:ext cx="5486400" cy="34747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QSSM framework: first quantified, farm-level sustainability scoring for India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AI-DSS integrating 15+ data sources, ML models, and RAG advisory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93.2% crop recommendation accuracy · AUC 0.94 risk detection · R²=0.87 yield model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ensures farmer trust and transparent decision-making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government scheme matching — bridging the farmer access gap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852160" y="777240"/>
            <a:ext cx="3108960" cy="2651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822960"/>
            <a:ext cx="1097280" cy="1005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52160" y="19202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182880" y="3520440"/>
            <a:ext cx="8778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2880" y="3520440"/>
            <a:ext cx="8778240" cy="347472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3520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3931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" y="44805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IoT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408" y="39319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4805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Satellite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393192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291840" y="44805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Punjabi Advisory</a:t>
            </a:r>
            <a:endParaRPr lang="en-US" sz="8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93192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709160" y="44805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Credit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8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3931920"/>
            <a:ext cx="457200" cy="4572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126480" y="44805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National-Scale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8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0688" y="3931920"/>
            <a:ext cx="457200" cy="4572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543800" y="44805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(DPDP 2023)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Decision Support System for Sustainable Farming Practices</dc:title>
  <dc:subject>PptxGenJS Presentation</dc:subject>
  <dc:creator>PptxGenJS</dc:creator>
  <cp:lastModifiedBy>PptxGenJS</cp:lastModifiedBy>
  <cp:revision>1</cp:revision>
  <dcterms:created xsi:type="dcterms:W3CDTF">2026-04-24T09:57:26Z</dcterms:created>
  <dcterms:modified xsi:type="dcterms:W3CDTF">2026-04-24T09:57:26Z</dcterms:modified>
</cp:coreProperties>
</file>