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0916C">
              <a:alpha val="25000"/>
            </a:srgbClr>
          </a:solidFill>
          <a:ln w="12700">
            <a:solidFill>
              <a:srgbClr val="74C69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74C69D">
              <a:alpha val="40000"/>
            </a:srgbClr>
          </a:solidFill>
          <a:ln w="12700">
            <a:solidFill>
              <a:srgbClr val="74C69D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"/>
            <a:ext cx="237744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</a:rPr>
              <a:t>COLLEGE PROJECT PRESENTATION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74980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Decision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4C6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System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Sustainable Farming Practices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4C69D"/>
                </a:solidFill>
              </a:rPr>
              <a:t>Analysing Stakeholder Needs · Government Data · Land Conditions · Policy Gaps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36576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F3DC"/>
                </a:solidFill>
              </a:rPr>
              <a:t>Guided by: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Prof. [Faculty Name]  </a:t>
            </a:r>
            <a:pPr indent="0" marL="0">
              <a:buNone/>
            </a:pPr>
            <a:r>
              <a:rPr lang="en-US" sz="1000" dirty="0">
                <a:solidFill>
                  <a:srgbClr val="74C69D"/>
                </a:solidFill>
              </a:rPr>
              <a:t>  |  </a:t>
            </a:r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4C69D"/>
                </a:solidFill>
              </a:rPr>
              <a:t>[Your College Name] · [Academic Year]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6596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77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1965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Farmers unaware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Govt schemes they qualify for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22960"/>
            <a:ext cx="196596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77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536192"/>
            <a:ext cx="1965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Agricultural land under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soil degradation stress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822960"/>
            <a:ext cx="196596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877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₹7L Cr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536192"/>
            <a:ext cx="1965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Annual loss due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unsustainable practices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8229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822960"/>
            <a:ext cx="196596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877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03136" y="1536192"/>
            <a:ext cx="1965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Smallholder farmers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not covered by any DSS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395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Why This Problem Matters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871216"/>
            <a:ext cx="54864" cy="2926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34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</a:rPr>
              <a:t>India has 140+ government agricultural schemes but most farmers access fewer than 3 due to information silos and poor digital reach.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54864" cy="2926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28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</a:rPr>
              <a:t>Sustainable farming practices exist in policy — but adoption is &lt;18% nationally due to lack of personalised, condition-based guidance.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54864" cy="2926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2219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</a:rPr>
              <a:t>Current decision support systems are generic, single-crop, and ignore multi-stakeholder dynamics including tenants, labourers, and women farmers.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352544"/>
            <a:ext cx="54864" cy="2926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159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</a:rPr>
              <a:t>There is no unified AI platform that combines soil data, weather, govt schemes, and market signals into a single actionable farm intelligence layer.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PROJECT OVERVIEW &amp;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94944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🌱  VISION: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8760" y="804672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4332"/>
                </a:solidFill>
              </a:rPr>
              <a:t>Build an integrated AI platform that analyses farmer needs, land health, and government data to recommend personalised sustainable farming pathways — enhancing decision-making for every stakeholder in the agricultural ecosystem.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Aggregate &amp; Analyse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Collect data from govt portals, soil health cards, surveys, weather &amp; market APIs into a unified intelligence 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719072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19072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19072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7739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Profile Stakeholders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57800" y="204825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Model all agricultural stakeholders — farmers, tenants, women farmers, FPOs, labourers, and policymakers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43200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43200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798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Score Sustainability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307238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Develop a quantified Sustainable Practice Score for each farm using soil, water, climate, and income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743200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43200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743200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2798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Recommend Practices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57800" y="307238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Prescribe top sustainable farming practices filtered by feasibility, cost, and long-term land health impact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6732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67328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67328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Match Govt Schemes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40965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Automatically map each farmer's profile to eligible schemes and flag access barriers and utilisation gaps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767328"/>
            <a:ext cx="4114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767328"/>
            <a:ext cx="475488" cy="8961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767328"/>
            <a:ext cx="4754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</a:rPr>
              <a:t>Enable Policy Research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57800" y="40965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Generate research-grade policy gap reports to identify where schemes fail to reach intended beneficiaries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804672"/>
            <a:ext cx="7132320" cy="713232"/>
          </a:xfrm>
          <a:prstGeom prst="rect">
            <a:avLst/>
          </a:prstGeom>
          <a:solidFill>
            <a:srgbClr val="1B4332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841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DATA INGESTION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133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Govt Portals  ·  Soil Health Cards  ·  IMD Weather  ·  eNAM / Mandi  ·  NSSO Surveys  ·  PM-KISAN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1517904"/>
            <a:ext cx="457200" cy="155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673352"/>
            <a:ext cx="7132320" cy="713232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09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ANALYSIS &amp; PROCESSING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0025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Stakeholder Profiling  ·  Land Condition Analysis  ·  NLP on Survey Data  ·  Scheme Eligibility Engine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2386584"/>
            <a:ext cx="457200" cy="155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542032"/>
            <a:ext cx="7132320" cy="713232"/>
          </a:xfrm>
          <a:prstGeom prst="rect">
            <a:avLst/>
          </a:prstGeom>
          <a:solidFill>
            <a:srgbClr val="40916C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578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SUSTAINABLE PRACTICE INTELLIGENCE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28712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Practice Scoring  ·  Suitability Mapping  ·  Transition Pathway Generator  ·  Carbon Impact Modelling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3255264"/>
            <a:ext cx="457200" cy="1554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410712"/>
            <a:ext cx="7132320" cy="713232"/>
          </a:xfrm>
          <a:prstGeom prst="rect">
            <a:avLst/>
          </a:prstGeom>
          <a:solidFill>
            <a:srgbClr val="74C69D"/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4472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AI DECISION SUPPORT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37398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Condition Analyser  ·  Needs Predictor  ·  Practice Recommender  ·  Policy Gap Identifier  ·  XAI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A825"/>
                </a:solidFill>
              </a:rPr>
              <a:t>OUTPUT INTERFACES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2651760" cy="438912"/>
          </a:xfrm>
          <a:prstGeom prst="rect">
            <a:avLst/>
          </a:prstGeom>
          <a:solidFill>
            <a:srgbClr val="2632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360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🧑‍🌾 Farmer App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C69D"/>
                </a:solidFill>
              </a:rPr>
              <a:t>Multilingual · Voice Input · Offline Mode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4617720"/>
            <a:ext cx="2651760" cy="438912"/>
          </a:xfrm>
          <a:prstGeom prst="rect">
            <a:avLst/>
          </a:prstGeom>
          <a:solidFill>
            <a:srgbClr val="2632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6360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🏛 Officer Portal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4846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C69D"/>
                </a:solidFill>
              </a:rPr>
              <a:t>District Dashboard · Heatmaps · Alerts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26480" y="4617720"/>
            <a:ext cx="2651760" cy="438912"/>
          </a:xfrm>
          <a:prstGeom prst="rect">
            <a:avLst/>
          </a:prstGeom>
          <a:solidFill>
            <a:srgbClr val="2632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6360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Research Dashboard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4846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C69D"/>
                </a:solidFill>
              </a:rPr>
              <a:t>Trend Analysis · Policy Reports · Export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DATA SOURCES &amp; GOVERNMENT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4069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Farmer &amp; Scheme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PM-KISAN beneficiary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PMFBY crop insurance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PM-KUSUM solar pump scheme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eNAM trading portal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Direct Benefit Transfer (DBT)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41248"/>
            <a:ext cx="406908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Land &amp; Soil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243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Soil Health Card Scheme (SHC)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18888" y="15270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ICAR soil classification DB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18888" y="1810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National Land Records (DILRMP)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Land degradation atlas (ISRO)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916C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Watershed mission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85292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52928"/>
            <a:ext cx="4069080" cy="347472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Survey &amp; Census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4F2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NSSO Agricultural Surveys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4F2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Agriculture Census (every 5 yrs)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4F2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State Horticulture Mission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4F2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Farm Household Income surveys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4F24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Gender-disaggregated SECC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85292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85292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Climate &amp; Market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IMD rainfall &amp; drought indices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18888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Seasonal climate forecasts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MSP (Minimum Support Price)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State mandi price feeds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Commodity futures data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SUSTAINABLE FARMING PRACTICES — INTELLIGENCE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93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5097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Crop Rotation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&amp; Intercropping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Soil Health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82296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822960"/>
            <a:ext cx="1993392" cy="640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95097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Zero Tillage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Conservation Farming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23744" y="166420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Erosion Control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90288" y="82296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82296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95097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Integrated Pest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Management (IPM)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166420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Chemical Reduction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48272" y="82296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48272" y="822960"/>
            <a:ext cx="1993392" cy="64008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95097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Drip &amp; Sprinkler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Irrigation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39712" y="166420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Water Saving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33172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331720"/>
            <a:ext cx="1993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5973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ZBNF / Organic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Natural Farming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17296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Cost Reduction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32304" y="233172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32304" y="2331720"/>
            <a:ext cx="1993392" cy="640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245973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Agroforestry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Silvopasture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23744" y="317296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23744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Carbon Capture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90288" y="233172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90288" y="233172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45973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Soil Organic Carbon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Management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81728" y="317296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Long-term Fertility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48272" y="2331720"/>
            <a:ext cx="19933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48272" y="2331720"/>
            <a:ext cx="1993392" cy="64008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2459736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Residue Management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(Anti Stubble Burning)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39712" y="3172968"/>
            <a:ext cx="14630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39712" y="3172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↑ Air Quality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332"/>
                </a:solidFill>
              </a:rPr>
              <a:t>🤖  AI Engine: Scores current farm sustainability → Identifies practice gaps → Maps transition pathway with cost-benefit analysis over 3 years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MULTI-STAKEHOLDER ANALYSIS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896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Smallholder Farmer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Land size, crop history, income level, scheme access, literacy level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64008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229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22392" y="896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Tenant Farmer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22392" y="11887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Land rights, access barriers, scheme exclusion, security of tenure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828800"/>
            <a:ext cx="6400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👩‍🌾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" y="1901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Women Farmers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21945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Gender-disaggregated data, land ownership gaps, financial access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28800"/>
            <a:ext cx="640080" cy="868680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8288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⛏️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22392" y="1901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Farm Labourers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22392" y="21945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Employment patterns, wage trends, seasonal dependency, migration risk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34640"/>
            <a:ext cx="64008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34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7552" y="2907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FPOs &amp; Cooperatives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" y="32004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Collective bargaining, storage capacity, market linkages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34640"/>
            <a:ext cx="640080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8346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22392" y="2907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Govt / Agri Dept.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2392" y="32004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Scheme implementation gaps, policy reach, budget utilisation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40480"/>
            <a:ext cx="64008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40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87552" y="3913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Researchers / ICAR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" y="42062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Data needs, trial outcomes, knowledge transfer to field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8404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40480"/>
            <a:ext cx="640080" cy="868680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8404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22392" y="3913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Input Suppliers / Agri Business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22392" y="42062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Supply chain efficiency, sustainable input access, pricing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AI DECISION SUPPORT ENGINE — CORE MODULES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6002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04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A. Condition Analyser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109728" cy="1097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5331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Diagnoses current farm &amp; farmer state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109728" cy="1097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99339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Soil health grade + risk interpretation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109728" cy="1097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6334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Water availability stress index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346704"/>
            <a:ext cx="109728" cy="1097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27355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Economic vulnerability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986784"/>
            <a:ext cx="109728" cy="1097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Scheme utilisation gap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84248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84248" y="804672"/>
            <a:ext cx="1600200" cy="47548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804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B. Needs Predictor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75688" y="1426464"/>
            <a:ext cx="109728" cy="1097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135331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Predicts crop failure risk 60 days ahead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75688" y="2066544"/>
            <a:ext cx="109728" cy="1097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199339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Flags farmers at risk of debt cycle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75688" y="2706624"/>
            <a:ext cx="109728" cy="1097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26334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Seasonal resource demand forecasting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75688" y="3346704"/>
            <a:ext cx="109728" cy="1097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27355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Water scarcity early warning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75688" y="3986784"/>
            <a:ext cx="109728" cy="10972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Labour demand prediction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39896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9896" y="804672"/>
            <a:ext cx="1600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804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C. Practice Recommender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31336" y="14264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95928" y="135331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Top 3 sustainable practice pathways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31336" y="20665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95928" y="199339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Feasibility filter by farmer resources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31336" y="270662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5928" y="26334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Investment vs. yield change timeline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31336" y="33467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95928" y="327355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Soil &amp; income 3-year projection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31336" y="398678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95928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XAI: Explains every recommendation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95544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95544" y="804672"/>
            <a:ext cx="1600200" cy="475488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8696" y="804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D. Scheme Matcher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86984" y="1426464"/>
            <a:ext cx="109728" cy="109728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1576" y="135331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Auto-maps farmer profile → schemes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86984" y="2066544"/>
            <a:ext cx="109728" cy="109728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1576" y="199339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Shows application steps &amp; nearby center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86984" y="2706624"/>
            <a:ext cx="109728" cy="109728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51576" y="26334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Tracks benefit delivery status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86984" y="3346704"/>
            <a:ext cx="109728" cy="109728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51576" y="327355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Identifies under-utilised scheme budget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86984" y="3986784"/>
            <a:ext cx="109728" cy="109728"/>
          </a:xfrm>
          <a:prstGeom prst="ellipse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51576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Sends eligibility alerts to farmers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51192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251192" y="804672"/>
            <a:ext cx="1600200" cy="47548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24344" y="804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E. Policy Gap Identifier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42632" y="1426464"/>
            <a:ext cx="109728" cy="1097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07224" y="135331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Finds where schemes miss beneficiaries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42632" y="2066544"/>
            <a:ext cx="109728" cy="1097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07224" y="199339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Maps districts with declining practices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342632" y="2706624"/>
            <a:ext cx="109728" cy="1097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07224" y="263347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Generates policy recommendation reports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342632" y="3346704"/>
            <a:ext cx="109728" cy="1097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07224" y="327355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Research-grade exportable datasets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42632" y="3986784"/>
            <a:ext cx="109728" cy="1097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07224" y="3913632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Academic publication support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RESEARCH CONTRIBUTIONS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09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32688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Unified Govt Data Pipeline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2070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First system to aggregate PM-KISAN, SHC, NSSO, eNAM and IMD into a single agricultural intelligence layer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709928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9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No existing system does this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932688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49240" y="914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Multi-Stakeholder DSS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12070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Models 8+ stakeholder profiles including historically excluded groups — tenants, women farmers, and labourers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18888" y="1709928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09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Gap in DSS literature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322576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" y="2304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Quantified Sustainability Score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5968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Introduces a standardised Sustainable Practice Score (SPS) metric for Indian farm contexts across soil, water, and economic dimensions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099816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99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No standard metric exists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2322576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49240" y="23042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Scheme Utilisation Gap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25968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AI-driven analysis to identify where government schemes fail to reach eligible farmers — by district, gender, and landholding class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18888" y="3099816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9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Major policy research gap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712464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Feasibility-Filtered Recommendations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39867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Recommendations account for real economic constraints of smallholder farmers — not just agronomic optimality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" y="4489704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Current systems ignore this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602736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18888" y="3712464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RC-6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49240" y="3694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</a:rPr>
              <a:t>Long-term Land Health Forecasting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49240" y="39867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3–10 year soil degradation and fertility projection at farm-level, combining satellite, sensor, and historical data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18888" y="4489704"/>
            <a:ext cx="3931920" cy="219456"/>
          </a:xfrm>
          <a:prstGeom prst="rect">
            <a:avLst/>
          </a:prstGeom>
          <a:solidFill>
            <a:srgbClr val="FFF3C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489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★  Under-researched at micro-scale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PROPOSED 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60020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04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&amp; Backend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7315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Python (FastAPI / Django)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7315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PostgreSQL + PostGIS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7315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Apache Kafka (data streams)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255264"/>
            <a:ext cx="7315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186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Redis (caching)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877056"/>
            <a:ext cx="73152" cy="3108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REST APIs for govt portals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84248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84248" y="804672"/>
            <a:ext cx="1600200" cy="43891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804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/ ML Layer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75688" y="1389888"/>
            <a:ext cx="73152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12848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scikit-learn (classification)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75688" y="2011680"/>
            <a:ext cx="73152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2848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XGBoost (yield prediction)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75688" y="2633472"/>
            <a:ext cx="73152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SHAP / LIME (XAI)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75688" y="3255264"/>
            <a:ext cx="73152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12848" y="32186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NLP: spaCy / HuggingFace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75688" y="3877056"/>
            <a:ext cx="73152" cy="310896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12848" y="3840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Time-series: Prophet / LSTM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39896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39896" y="804672"/>
            <a:ext cx="1600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804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Geospatial &amp; Remote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31336" y="1389888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68496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Google Earth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31336" y="2011680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68496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GDAL / Rasterio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31336" y="2633472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68496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ISRO Bhuvan APIs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31336" y="3255264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68496" y="32186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Sentinel satellite imagery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31336" y="3877056"/>
            <a:ext cx="7315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68496" y="3840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IMD API (weather data)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95544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95544" y="804672"/>
            <a:ext cx="1600200" cy="438912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8696" y="804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&amp; Mobile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86984" y="1389888"/>
            <a:ext cx="73152" cy="310896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React.js (officer portal)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86984" y="2011680"/>
            <a:ext cx="73152" cy="310896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24144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React Native (farmer app)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86984" y="2633472"/>
            <a:ext cx="73152" cy="310896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24144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Bhashini API (translation)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86984" y="3255264"/>
            <a:ext cx="73152" cy="310896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4144" y="32186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Voice input (WebSpeech)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86984" y="3877056"/>
            <a:ext cx="73152" cy="310896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24144" y="3840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PWA for offline support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51192" y="804672"/>
            <a:ext cx="1600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251192" y="804672"/>
            <a:ext cx="160020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24344" y="804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DevOps &amp; Infra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42632" y="1389888"/>
            <a:ext cx="73152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79792" y="13533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Docker + Kubernetes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42632" y="2011680"/>
            <a:ext cx="73152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79792" y="19751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AWS / Azure Cloud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342632" y="2633472"/>
            <a:ext cx="73152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9792" y="25968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GitHub CI/CD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342632" y="3255264"/>
            <a:ext cx="73152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79792" y="32186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Grafana (monitoring)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42632" y="3877056"/>
            <a:ext cx="73152" cy="3108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79792" y="3840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</a:rPr>
              <a:t>Jupyter Notebooks (research)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EXPECTED IMPACT &amp;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Measurable Impact Targets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1097280" cy="7680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36192" y="1280160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increase in scheme access by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eligible smallholder farmers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1097280" cy="7680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76272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36192" y="2176272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reduction in unsustainable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practices in pilot districts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72384"/>
            <a:ext cx="1097280" cy="7680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72384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36192" y="3072384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faster policy gap identification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vs. traditional audits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68496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68496"/>
            <a:ext cx="1097280" cy="76809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68496"/>
            <a:ext cx="1097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36192" y="3968496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stakeholder categories modelled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</a:rPr>
              <a:t>(first DSS to do this)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8412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Primary Beneficiaries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26187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91456" y="1261872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58384" y="13167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142M+ Smallholder Farm Families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58384" y="15636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Personalised scheme access, practice guidance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197510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91456" y="1975104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58384" y="20299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Women &amp; Marginalised Farmers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58384" y="2276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Targeted equity analytics to close access gaps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68833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91456" y="2688336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58384" y="2743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State Agriculture Departments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58384" y="2990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Real-time dashboards for scheme performance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40156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91456" y="3401568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58384" y="34564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Researchers &amp; Policymakers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58384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First standardised, multi-source agri research DB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411480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91456" y="4114800"/>
            <a:ext cx="512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58384" y="41696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</a:rPr>
              <a:t>Climate &amp; Sustainability Goals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58384" y="4416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Contributes to India's NDC targets (net-zero 2070)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PROJECT TIMELINE &amp; 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4C69D"/>
                </a:solidFill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8229600" cy="54864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07592"/>
            <a:ext cx="420624" cy="420624"/>
          </a:xfrm>
          <a:prstGeom prst="ellipse">
            <a:avLst/>
          </a:prstGeom>
          <a:solidFill>
            <a:srgbClr val="2D6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1207008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A4F"/>
                </a:solidFill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Literature Review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&amp; Requirements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1–2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52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52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Problem statement, scope, SRS document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286000" y="1307592"/>
            <a:ext cx="420624" cy="420624"/>
          </a:xfrm>
          <a:prstGeom prst="ellipse">
            <a:avLst/>
          </a:prstGeom>
          <a:solidFill>
            <a:srgbClr val="4091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1874520"/>
            <a:ext cx="1207008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0916C"/>
                </a:solidFill>
              </a:rPr>
              <a:t>Phase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568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Data Collection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&amp; API Integration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568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3–4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568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568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Govt portal connectors, data pipeline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0" y="1307592"/>
            <a:ext cx="420624" cy="42062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1874520"/>
            <a:ext cx="12070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Phase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284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AI Model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Development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284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5–7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284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284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Sustainability scorer, recommender, XAI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1307592"/>
            <a:ext cx="420624" cy="420624"/>
          </a:xfrm>
          <a:prstGeom prst="ellipse">
            <a:avLst/>
          </a:prstGeom>
          <a:solidFill>
            <a:srgbClr val="7F4F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1874520"/>
            <a:ext cx="1207008" cy="54864"/>
          </a:xfrm>
          <a:prstGeom prst="rect">
            <a:avLst/>
          </a:prstGeom>
          <a:solidFill>
            <a:srgbClr val="7F4F24"/>
          </a:solidFill>
          <a:ln w="12700">
            <a:solidFill>
              <a:srgbClr val="7F4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4F24"/>
                </a:solidFill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00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System Integration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&amp; UI Development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00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8–9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000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00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Farmer app, officer portal, dashboards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400800" y="1307592"/>
            <a:ext cx="420624" cy="420624"/>
          </a:xfrm>
          <a:prstGeom prst="ellipse">
            <a:avLst/>
          </a:prstGeom>
          <a:solidFill>
            <a:srgbClr val="1B43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35040" y="1874520"/>
            <a:ext cx="1207008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332"/>
                </a:solidFill>
              </a:rPr>
              <a:t>Phase 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716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Testing, Pilot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&amp; Evaluation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716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10–11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716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716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716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Pilot with 50 farms, accuracy metrics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772400" y="1307592"/>
            <a:ext cx="420624" cy="420624"/>
          </a:xfrm>
          <a:prstGeom prst="ellipse">
            <a:avLst/>
          </a:prstGeom>
          <a:solidFill>
            <a:srgbClr val="6B27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06640" y="1874520"/>
            <a:ext cx="120700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406640" y="1874520"/>
            <a:ext cx="1207008" cy="54864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19476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737"/>
                </a:solidFill>
              </a:rPr>
              <a:t>Phase 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43216" y="22219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Research Paper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4332"/>
                </a:solidFill>
              </a:rPr>
              <a:t>&amp; Final Submission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443216" y="27889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Month 12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443216" y="3063240"/>
            <a:ext cx="1115568" cy="36576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43216" y="31546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5568"/>
                </a:solidFill>
              </a:rPr>
              <a:t>Deliverable: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443216" y="3355848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E1E"/>
                </a:solidFill>
              </a:rPr>
              <a:t>IEEE/Springer paper draft, final report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40916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371600"/>
            <a:ext cx="2286000" cy="2286000"/>
          </a:xfrm>
          <a:prstGeom prst="ellipse">
            <a:avLst/>
          </a:prstGeom>
          <a:solidFill>
            <a:srgbClr val="40916C">
              <a:alpha val="40000"/>
            </a:srgbClr>
          </a:solidFill>
          <a:ln w="12700">
            <a:solidFill>
              <a:srgbClr val="74C69D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4C69D"/>
                </a:solidFill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2004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Integrates 10+ government data sources into one intelligence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Models 8 stakeholder profiles — including historically excluded groups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Introduces India's first Sustainable Practice Score (SPS) metric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Bridges the critical gap between government schemes and farmers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D8F3DC"/>
                </a:solidFill>
              </a:rPr>
              <a:t>Generates research-grade policy gap analysis for academic publishing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3659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F3DC"/>
                </a:solidFill>
              </a:rPr>
              <a:t>[Your Name(s)]  ·  [College Name]  ·  [Department]  ·  [Academic Year]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DSS for Sustainable Farming</dc:title>
  <dc:subject>PptxGenJS Presentation</dc:subject>
  <dc:creator>PptxGenJS</dc:creator>
  <cp:lastModifiedBy>PptxGenJS</cp:lastModifiedBy>
  <cp:revision>1</cp:revision>
  <dcterms:created xsi:type="dcterms:W3CDTF">2026-03-12T20:20:18Z</dcterms:created>
  <dcterms:modified xsi:type="dcterms:W3CDTF">2026-03-12T20:20:18Z</dcterms:modified>
</cp:coreProperties>
</file>