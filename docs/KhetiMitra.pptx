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A3BA483-1C8C-4D75-81CB-2A8DDB9120F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EBF8C5-AA89-447D-A7FF-75F5485E63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6CC3BE-1B17-441C-810C-2ECA7B9E38D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B4753D-4F56-4B17-AFAD-C3BC3A0E78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081A37-4E2D-47AF-A01A-5974AD7BDB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105AC0-F95A-457B-B49A-5E6C399BEA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BD0C90-CB00-4F7F-A946-33F225F580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B7BFC3-864A-43E5-B661-0B3B6FC0A3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5E4578-13A9-4F15-9ED3-978656B609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3C30B5-3435-4047-8DE7-0444BDD50D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943600" y="-914400"/>
            <a:ext cx="5028480" cy="5028480"/>
          </a:xfrm>
          <a:prstGeom prst="ellipse">
            <a:avLst/>
          </a:prstGeom>
          <a:solidFill>
            <a:srgbClr val="00c896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583680" y="-457200"/>
            <a:ext cx="3839760" cy="3839760"/>
          </a:xfrm>
          <a:prstGeom prst="ellipse">
            <a:avLst/>
          </a:prstGeom>
          <a:solidFill>
            <a:srgbClr val="0d7f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457200" y="429480"/>
            <a:ext cx="1553760" cy="291960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11480" y="393120"/>
            <a:ext cx="1553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00c896"/>
                </a:solidFill>
                <a:latin typeface="Calibri"/>
              </a:rPr>
              <a:t>🌾 </a:t>
            </a:r>
            <a:r>
              <a:rPr b="1" lang="en-US" sz="900" spc="197" strike="noStrike">
                <a:solidFill>
                  <a:srgbClr val="00c896"/>
                </a:solidFill>
                <a:latin typeface="Calibri"/>
              </a:rPr>
              <a:t>AGRI TECH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1480" y="914400"/>
            <a:ext cx="6400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ffffff"/>
                </a:solidFill>
                <a:latin typeface="Trebuchet MS"/>
                <a:ea typeface="Trebuchet MS"/>
              </a:rPr>
              <a:t>KhetiMitra</a:t>
            </a:r>
            <a:endParaRPr b="0" lang="en-US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11480" y="2148840"/>
            <a:ext cx="6857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c8d8ee"/>
                </a:solidFill>
                <a:latin typeface="Calibri"/>
                <a:ea typeface="Calibri"/>
              </a:rPr>
              <a:t>Intelligent Decision Support for India's 140 Million Farmers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11480" y="2853000"/>
            <a:ext cx="2193840" cy="36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11480" y="2971800"/>
            <a:ext cx="2102400" cy="840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11480" y="299916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c896"/>
                </a:solidFill>
                <a:latin typeface="Trebuchet MS"/>
                <a:ea typeface="Trebuchet MS"/>
              </a:rPr>
              <a:t>₹</a:t>
            </a:r>
            <a:r>
              <a:rPr b="1" lang="en-US" sz="2600" spc="-1" strike="noStrike">
                <a:solidFill>
                  <a:srgbClr val="00c896"/>
                </a:solidFill>
                <a:latin typeface="Trebuchet MS"/>
                <a:ea typeface="Trebuchet MS"/>
              </a:rPr>
              <a:t>63K Cr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11480" y="342000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Lost Annually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788920" y="2971800"/>
            <a:ext cx="2102400" cy="840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788920" y="299916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c896"/>
                </a:solidFill>
                <a:latin typeface="Trebuchet MS"/>
                <a:ea typeface="Trebuchet MS"/>
              </a:rPr>
              <a:t>140M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788920" y="342000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Farmers Targeted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5166360" y="2971800"/>
            <a:ext cx="2102400" cy="840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166360" y="2999160"/>
            <a:ext cx="2102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0c896"/>
                </a:solidFill>
                <a:latin typeface="Trebuchet MS"/>
                <a:ea typeface="Trebuchet MS"/>
              </a:rPr>
              <a:t>86%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166360" y="342000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Underserved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411480" y="44805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  <a:ea typeface="Noto Sans CJK SC"/>
              </a:rPr>
              <a:t>Sarang Ahlawat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7315200" y="1097280"/>
            <a:ext cx="1370880" cy="137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320040" y="27432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f6b35"/>
                </a:solidFill>
                <a:latin typeface="Calibri"/>
              </a:rPr>
              <a:t>THE PROBLEM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320040" y="567000"/>
            <a:ext cx="8228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India's Farmers Are Flying Blind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320040" y="1234440"/>
            <a:ext cx="3931200" cy="2559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320040" y="1417320"/>
            <a:ext cx="39312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6b35"/>
                </a:solidFill>
                <a:latin typeface="Trebuchet MS"/>
                <a:ea typeface="Trebuchet MS"/>
              </a:rPr>
              <a:t>₹</a:t>
            </a:r>
            <a:r>
              <a:rPr b="1" lang="en-US" sz="5200" spc="-1" strike="noStrike">
                <a:solidFill>
                  <a:srgbClr val="ff6b35"/>
                </a:solidFill>
                <a:latin typeface="Trebuchet MS"/>
                <a:ea typeface="Trebuchet MS"/>
              </a:rPr>
              <a:t>63,000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320040" y="2103120"/>
            <a:ext cx="39312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395" strike="noStrike">
                <a:solidFill>
                  <a:srgbClr val="ff6b35"/>
                </a:solidFill>
                <a:latin typeface="Calibri"/>
              </a:rPr>
              <a:t>CRORE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320040" y="2514600"/>
            <a:ext cx="3931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lost by Indian farmers annually due to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poor crop decisions &amp; climate shocks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4572000" y="1234440"/>
            <a:ext cx="4205520" cy="8038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4572000" y="1234440"/>
            <a:ext cx="54000" cy="803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0" descr="preencoded.png"/>
          <p:cNvPicPr/>
          <p:nvPr/>
        </p:nvPicPr>
        <p:blipFill>
          <a:blip r:embed="rId1"/>
          <a:stretch/>
        </p:blipFill>
        <p:spPr>
          <a:xfrm>
            <a:off x="4663440" y="14083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37" name="Text 9"/>
          <p:cNvSpPr/>
          <p:nvPr/>
        </p:nvSpPr>
        <p:spPr>
          <a:xfrm>
            <a:off x="5166360" y="1298520"/>
            <a:ext cx="3474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86% Small &amp; Marginal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5166360" y="161856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No access to expert advisory or real-time data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11"/>
          <p:cNvSpPr/>
          <p:nvPr/>
        </p:nvSpPr>
        <p:spPr>
          <a:xfrm>
            <a:off x="4572000" y="2194560"/>
            <a:ext cx="4205520" cy="8038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4572000" y="2194560"/>
            <a:ext cx="54000" cy="803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1" descr="preencoded.png"/>
          <p:cNvPicPr/>
          <p:nvPr/>
        </p:nvPicPr>
        <p:blipFill>
          <a:blip r:embed="rId2"/>
          <a:stretch/>
        </p:blipFill>
        <p:spPr>
          <a:xfrm>
            <a:off x="4663440" y="236844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42" name="Text 13"/>
          <p:cNvSpPr/>
          <p:nvPr/>
        </p:nvSpPr>
        <p:spPr>
          <a:xfrm>
            <a:off x="5166360" y="2258640"/>
            <a:ext cx="3474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Zero Digital Support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5166360" y="257868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Farmers rely on word-of-mouth and seasonal luck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4572000" y="3154680"/>
            <a:ext cx="4205520" cy="8038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4572000" y="3154680"/>
            <a:ext cx="54000" cy="80388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2" descr="preencoded.png"/>
          <p:cNvPicPr/>
          <p:nvPr/>
        </p:nvPicPr>
        <p:blipFill>
          <a:blip r:embed="rId3"/>
          <a:stretch/>
        </p:blipFill>
        <p:spPr>
          <a:xfrm>
            <a:off x="4663440" y="332856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47" name="Text 17"/>
          <p:cNvSpPr/>
          <p:nvPr/>
        </p:nvSpPr>
        <p:spPr>
          <a:xfrm>
            <a:off x="5166360" y="3218760"/>
            <a:ext cx="3474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Policy Blindspot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5166360" y="353880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Crores in govt schemes go unclaimed due to unawareness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320040" y="4617720"/>
            <a:ext cx="8411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b8faa"/>
                </a:solidFill>
                <a:latin typeface="Calibri"/>
              </a:rPr>
              <a:t>700 million rural Indians. One broken information pipeline.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320040" y="274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59e0b"/>
                </a:solidFill>
                <a:latin typeface="Calibri"/>
              </a:rPr>
              <a:t>MARKET OPPORTUNITY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320040" y="567000"/>
            <a:ext cx="8411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A Trillion-Rupee Gap, Waiting to Be Bridged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320040" y="1371600"/>
            <a:ext cx="2651040" cy="201096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320040" y="1371600"/>
            <a:ext cx="2651040" cy="54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320040" y="1508760"/>
            <a:ext cx="26510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59e0b"/>
                </a:solidFill>
                <a:latin typeface="Trebuchet MS"/>
                <a:ea typeface="Trebuchet MS"/>
              </a:rPr>
              <a:t>140M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320040" y="242316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Total Addressable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320040" y="274320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Indian farmers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3246120" y="1371600"/>
            <a:ext cx="2651040" cy="2010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3246120" y="1371600"/>
            <a:ext cx="2651040" cy="54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3246120" y="1508760"/>
            <a:ext cx="26510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00c896"/>
                </a:solidFill>
                <a:latin typeface="Trebuchet MS"/>
                <a:ea typeface="Trebuchet MS"/>
              </a:rPr>
              <a:t>28M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3246120" y="242316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Serviceable Market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3246120" y="274320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Smartphone-enabled farmers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3"/>
          <p:cNvSpPr/>
          <p:nvPr/>
        </p:nvSpPr>
        <p:spPr>
          <a:xfrm>
            <a:off x="6172200" y="1371600"/>
            <a:ext cx="2651040" cy="201096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6172200" y="1371600"/>
            <a:ext cx="2651040" cy="5400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6172200" y="1508760"/>
            <a:ext cx="26510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0d7fd4"/>
                </a:solidFill>
                <a:latin typeface="Trebuchet MS"/>
                <a:ea typeface="Trebuchet MS"/>
              </a:rPr>
              <a:t>4.2M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6"/>
          <p:cNvSpPr/>
          <p:nvPr/>
        </p:nvSpPr>
        <p:spPr>
          <a:xfrm>
            <a:off x="6172200" y="2423160"/>
            <a:ext cx="26510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Beachhead Pilot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6172200" y="2743200"/>
            <a:ext cx="265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Haryana &amp; Punjab farmers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8"/>
          <p:cNvSpPr/>
          <p:nvPr/>
        </p:nvSpPr>
        <p:spPr>
          <a:xfrm>
            <a:off x="320040" y="3547800"/>
            <a:ext cx="8411760" cy="803880"/>
          </a:xfrm>
          <a:prstGeom prst="rect">
            <a:avLst/>
          </a:prstGeom>
          <a:solidFill>
            <a:srgbClr val="0d1f38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502920" y="36118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🌾  </a:t>
            </a: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Haryana Pilot: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2331720" y="3611880"/>
            <a:ext cx="6308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8d8ee"/>
                </a:solidFill>
                <a:latin typeface="Calibri"/>
              </a:rPr>
              <a:t>3 districts  •  3 crop seasons  •  7 farmer profiles  •  Extendable to 15 Indian states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320040" y="448056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</a:rPr>
              <a:t>India's AgriTech sector is projected to exceed ₹70,000 Crore by 2025 - with advisory services as the largest under-served segment.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320040" y="27432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00c896"/>
                </a:solidFill>
                <a:latin typeface="Calibri"/>
              </a:rPr>
              <a:t>THE SOLUTION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320040" y="567000"/>
            <a:ext cx="8411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One App. Every Farmer's Personal Agronomist.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320040" y="1325880"/>
            <a:ext cx="8411760" cy="685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02920" y="1389960"/>
            <a:ext cx="8137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c8d8ee"/>
                </a:solidFill>
                <a:latin typeface="Calibri"/>
              </a:rPr>
              <a:t>KrishiMitra AI is a multilingual, voice-first Decision Support System — combining LSTM yield forecasting, live government data fusion, and a first-of-its-kind Sustainability Score to give every farmer hyper-personalized, actionable advice.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320040" y="2176200"/>
            <a:ext cx="4022640" cy="10508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320040" y="2176200"/>
            <a:ext cx="54000" cy="1050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457200" y="24505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80" name="Text 7"/>
          <p:cNvSpPr/>
          <p:nvPr/>
        </p:nvSpPr>
        <p:spPr>
          <a:xfrm>
            <a:off x="978480" y="226764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AI Crop Advisor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978480" y="263340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LSTM model forecasts yield &amp; recommends top 3 crops with profit projections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572000" y="2176200"/>
            <a:ext cx="4022640" cy="1050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4572000" y="2176200"/>
            <a:ext cx="54000" cy="1050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1" descr="preencoded.png"/>
          <p:cNvPicPr/>
          <p:nvPr/>
        </p:nvPicPr>
        <p:blipFill>
          <a:blip r:embed="rId2"/>
          <a:stretch/>
        </p:blipFill>
        <p:spPr>
          <a:xfrm>
            <a:off x="4709160" y="245052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85" name="Text 11"/>
          <p:cNvSpPr/>
          <p:nvPr/>
        </p:nvSpPr>
        <p:spPr>
          <a:xfrm>
            <a:off x="5230440" y="226764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Sustainability Support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5230440" y="263340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Scoring sustainability, suggesting pre-defined techniques in agriculture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320040" y="3401640"/>
            <a:ext cx="4022640" cy="1050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320040" y="3401640"/>
            <a:ext cx="54000" cy="105084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Image 2" descr="preencoded.png"/>
          <p:cNvPicPr/>
          <p:nvPr/>
        </p:nvPicPr>
        <p:blipFill>
          <a:blip r:embed="rId3"/>
          <a:stretch/>
        </p:blipFill>
        <p:spPr>
          <a:xfrm>
            <a:off x="457200" y="367596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90" name="Text 15"/>
          <p:cNvSpPr/>
          <p:nvPr/>
        </p:nvSpPr>
        <p:spPr>
          <a:xfrm>
            <a:off x="978480" y="349308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Policy Gap Detection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978480" y="3858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Automatically maps farmer profile to eligible government schemes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4572000" y="3401640"/>
            <a:ext cx="4022640" cy="10508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4572000" y="3401640"/>
            <a:ext cx="54000" cy="1050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4709160" y="3675960"/>
            <a:ext cx="410760" cy="410760"/>
          </a:xfrm>
          <a:prstGeom prst="rect">
            <a:avLst/>
          </a:prstGeom>
          <a:ln w="0">
            <a:noFill/>
          </a:ln>
        </p:spPr>
      </p:pic>
      <p:sp>
        <p:nvSpPr>
          <p:cNvPr id="95" name="Text 19"/>
          <p:cNvSpPr/>
          <p:nvPr/>
        </p:nvSpPr>
        <p:spPr>
          <a:xfrm>
            <a:off x="5230440" y="3493080"/>
            <a:ext cx="3245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Voice-First Multilingual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5230440" y="3858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Hindi + English with USSD/IVR fallback - works without smartphones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1"/>
          <p:cNvSpPr/>
          <p:nvPr/>
        </p:nvSpPr>
        <p:spPr>
          <a:xfrm>
            <a:off x="320040" y="4636080"/>
            <a:ext cx="84117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</a:rPr>
              <a:t>Patent-pending sustainability framework  •  Pilot-ready for Haryana  •  Deployable on ₹1,000 Android devices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320040" y="274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7c3aed"/>
                </a:solidFill>
                <a:latin typeface="Calibri"/>
              </a:rPr>
              <a:t>TECH ARCHITECTURE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320040" y="567000"/>
            <a:ext cx="8411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Built to Scale from Day One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320040" y="1298520"/>
            <a:ext cx="8411760" cy="593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320040" y="1298520"/>
            <a:ext cx="54000" cy="59364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457200" y="138996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04" name="Text 5"/>
          <p:cNvSpPr/>
          <p:nvPr/>
        </p:nvSpPr>
        <p:spPr>
          <a:xfrm>
            <a:off x="960120" y="133488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0d7fd4"/>
                </a:solidFill>
                <a:latin typeface="Calibri"/>
              </a:rPr>
              <a:t>FRONTEND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960120" y="159120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React.js  •  Recharts  •  Tailwind CSS  •  Hindi/English i18n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320040" y="2011680"/>
            <a:ext cx="8411760" cy="593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320040" y="2011680"/>
            <a:ext cx="54000" cy="593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1" descr="preencoded.png"/>
          <p:cNvPicPr/>
          <p:nvPr/>
        </p:nvPicPr>
        <p:blipFill>
          <a:blip r:embed="rId2"/>
          <a:stretch/>
        </p:blipFill>
        <p:spPr>
          <a:xfrm>
            <a:off x="457200" y="210312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09" name="Text 9"/>
          <p:cNvSpPr/>
          <p:nvPr/>
        </p:nvSpPr>
        <p:spPr>
          <a:xfrm>
            <a:off x="960120" y="204840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00c896"/>
                </a:solidFill>
                <a:latin typeface="Calibri"/>
              </a:rPr>
              <a:t>BACKEND / API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960120" y="230436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FastAPI (Python)  •  Uvicorn  •  SQLite  •  REST endpoints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320040" y="2724840"/>
            <a:ext cx="8411760" cy="593640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2"/>
          <p:cNvSpPr/>
          <p:nvPr/>
        </p:nvSpPr>
        <p:spPr>
          <a:xfrm>
            <a:off x="320040" y="2724840"/>
            <a:ext cx="54000" cy="593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Image 2" descr="preencoded.png"/>
          <p:cNvPicPr/>
          <p:nvPr/>
        </p:nvPicPr>
        <p:blipFill>
          <a:blip r:embed="rId3"/>
          <a:stretch/>
        </p:blipFill>
        <p:spPr>
          <a:xfrm>
            <a:off x="457200" y="281628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14" name="Text 13"/>
          <p:cNvSpPr/>
          <p:nvPr/>
        </p:nvSpPr>
        <p:spPr>
          <a:xfrm>
            <a:off x="960120" y="276156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7c3aed"/>
                </a:solidFill>
                <a:latin typeface="Calibri"/>
              </a:rPr>
              <a:t>ML / AI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4"/>
          <p:cNvSpPr/>
          <p:nvPr/>
        </p:nvSpPr>
        <p:spPr>
          <a:xfrm>
            <a:off x="960120" y="301752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LSTM (PyTorch)  •  Scikit-learn  •  IndicTrans NLP  •  84% accuracy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320040" y="3438000"/>
            <a:ext cx="8411760" cy="593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320040" y="3438000"/>
            <a:ext cx="54000" cy="593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457200" y="352944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19" name="Text 17"/>
          <p:cNvSpPr/>
          <p:nvPr/>
        </p:nvSpPr>
        <p:spPr>
          <a:xfrm>
            <a:off x="960120" y="347472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f59e0b"/>
                </a:solidFill>
                <a:latin typeface="Calibri"/>
              </a:rPr>
              <a:t>DATA SOURCES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960120" y="373068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eNAM Mandi API  •  OpenWeatherMap  •  NSSO  •  Soil Health Card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320040" y="4151520"/>
            <a:ext cx="8411760" cy="593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320040" y="4151520"/>
            <a:ext cx="54000" cy="593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4" descr="preencoded.png"/>
          <p:cNvPicPr/>
          <p:nvPr/>
        </p:nvPicPr>
        <p:blipFill>
          <a:blip r:embed="rId5"/>
          <a:stretch/>
        </p:blipFill>
        <p:spPr>
          <a:xfrm>
            <a:off x="457200" y="4242960"/>
            <a:ext cx="383400" cy="383400"/>
          </a:xfrm>
          <a:prstGeom prst="rect">
            <a:avLst/>
          </a:prstGeom>
          <a:ln w="0">
            <a:noFill/>
          </a:ln>
        </p:spPr>
      </p:pic>
      <p:sp>
        <p:nvSpPr>
          <p:cNvPr id="124" name="Text 21"/>
          <p:cNvSpPr/>
          <p:nvPr/>
        </p:nvSpPr>
        <p:spPr>
          <a:xfrm>
            <a:off x="960120" y="4187880"/>
            <a:ext cx="164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ff6b35"/>
                </a:solidFill>
                <a:latin typeface="Calibri"/>
              </a:rPr>
              <a:t>INFRASTRUCTURE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960120" y="4443840"/>
            <a:ext cx="7588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d8ee"/>
                </a:solidFill>
                <a:latin typeface="Calibri"/>
              </a:rPr>
              <a:t>Vercel (frontend)  •  Render.com (backend)  •  GitHub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320040" y="475488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</a:rPr>
              <a:t>Offline-first PWA  •  USSD + IVR fallback  •  Deploy target: Hour 20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20040" y="274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0d7fd4"/>
                </a:solidFill>
                <a:latin typeface="Calibri"/>
              </a:rPr>
              <a:t>DEMO WALKTHROUGH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320040" y="567000"/>
            <a:ext cx="8411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Trebuchet MS"/>
                <a:ea typeface="Trebuchet MS"/>
              </a:rPr>
              <a:t>Meet Ramesh - A 2-Acre Farmer in Karnal, Haryana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320040" y="1298520"/>
            <a:ext cx="2376720" cy="31996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320040" y="1298520"/>
            <a:ext cx="2376720" cy="5400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686160" y="146304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133" name="Text 5"/>
          <p:cNvSpPr/>
          <p:nvPr/>
        </p:nvSpPr>
        <p:spPr>
          <a:xfrm>
            <a:off x="457200" y="141732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RAMESH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457200" y="208476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Tenant farmer, 2 acres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457200" y="242316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Karnal district, Haryana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457200" y="276156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Annual income: ₹1.2L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457200" y="309996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No agronomist access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457200" y="343800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Basic Android phone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457200" y="3776400"/>
            <a:ext cx="210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Speaks Hindi only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2"/>
          <p:cNvSpPr/>
          <p:nvPr/>
        </p:nvSpPr>
        <p:spPr>
          <a:xfrm>
            <a:off x="2926080" y="1298520"/>
            <a:ext cx="5942880" cy="694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2926080" y="1298520"/>
            <a:ext cx="54000" cy="69408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3017520" y="1408320"/>
            <a:ext cx="502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d7fd4"/>
                </a:solidFill>
                <a:latin typeface="Trebuchet MS"/>
                <a:ea typeface="Trebuchet MS"/>
              </a:rPr>
              <a:t>01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15"/>
          <p:cNvSpPr/>
          <p:nvPr/>
        </p:nvSpPr>
        <p:spPr>
          <a:xfrm>
            <a:off x="3611880" y="13532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Farmer Dashboard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3611880" y="16369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Ramesh opens the app. His crop calendar, today's weather, and Karnal mandi prices load instantly.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2926080" y="2103120"/>
            <a:ext cx="5942880" cy="694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8"/>
          <p:cNvSpPr/>
          <p:nvPr/>
        </p:nvSpPr>
        <p:spPr>
          <a:xfrm>
            <a:off x="2926080" y="2103120"/>
            <a:ext cx="54000" cy="6940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9"/>
          <p:cNvSpPr/>
          <p:nvPr/>
        </p:nvSpPr>
        <p:spPr>
          <a:xfrm>
            <a:off x="3017520" y="2212920"/>
            <a:ext cx="502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c896"/>
                </a:solidFill>
                <a:latin typeface="Trebuchet MS"/>
                <a:ea typeface="Trebuchet MS"/>
              </a:rPr>
              <a:t>02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20"/>
          <p:cNvSpPr/>
          <p:nvPr/>
        </p:nvSpPr>
        <p:spPr>
          <a:xfrm>
            <a:off x="3611880" y="215784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AI Crop Advisory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3611880" y="24415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He inputs land size, soil type &amp; water source. KrishiMitra recommends Top 3 crops with LSTM confidence scores.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2926080" y="2907720"/>
            <a:ext cx="5942880" cy="694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2926080" y="2907720"/>
            <a:ext cx="54000" cy="694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3017520" y="3017520"/>
            <a:ext cx="502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9e0b"/>
                </a:solidFill>
                <a:latin typeface="Trebuchet MS"/>
                <a:ea typeface="Trebuchet MS"/>
              </a:rPr>
              <a:t>03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25"/>
          <p:cNvSpPr/>
          <p:nvPr/>
        </p:nvSpPr>
        <p:spPr>
          <a:xfrm>
            <a:off x="3611880" y="29628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Sustainability Score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6"/>
          <p:cNvSpPr/>
          <p:nvPr/>
        </p:nvSpPr>
        <p:spPr>
          <a:xfrm>
            <a:off x="3611880" y="32461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Shows score based on pre-defined sustainability techniques. He sees where he can improve to increase income.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7"/>
          <p:cNvSpPr/>
          <p:nvPr/>
        </p:nvSpPr>
        <p:spPr>
          <a:xfrm>
            <a:off x="2926080" y="3712320"/>
            <a:ext cx="5942880" cy="6940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8"/>
          <p:cNvSpPr/>
          <p:nvPr/>
        </p:nvSpPr>
        <p:spPr>
          <a:xfrm>
            <a:off x="2926080" y="3712320"/>
            <a:ext cx="54000" cy="694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29"/>
          <p:cNvSpPr/>
          <p:nvPr/>
        </p:nvSpPr>
        <p:spPr>
          <a:xfrm>
            <a:off x="3017520" y="3822120"/>
            <a:ext cx="502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6b35"/>
                </a:solidFill>
                <a:latin typeface="Trebuchet MS"/>
                <a:ea typeface="Trebuchet MS"/>
              </a:rPr>
              <a:t>04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0"/>
          <p:cNvSpPr/>
          <p:nvPr/>
        </p:nvSpPr>
        <p:spPr>
          <a:xfrm>
            <a:off x="3611880" y="37674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Policy Alert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3611880" y="405072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System detects Ramesh qualifies for PM-KISAN &amp; PMFBY. Direct application links shown. He claims ₹6,000 in 2 clicks.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32"/>
          <p:cNvSpPr/>
          <p:nvPr/>
        </p:nvSpPr>
        <p:spPr>
          <a:xfrm>
            <a:off x="2926080" y="4636080"/>
            <a:ext cx="5942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</a:rPr>
              <a:t>Named personas win empathy. Judges remember Ramesh - not 'User 1'.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320040" y="274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00c896"/>
                </a:solidFill>
                <a:latin typeface="Calibri"/>
              </a:rPr>
              <a:t>IMPACT &amp; TRACTION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320040" y="567000"/>
            <a:ext cx="8411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Real Data. Real Farmers. Real Change.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320040" y="1325880"/>
            <a:ext cx="191952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320040" y="1325880"/>
            <a:ext cx="1919520" cy="54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320040" y="1417320"/>
            <a:ext cx="1919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c896"/>
                </a:solidFill>
                <a:latin typeface="Trebuchet MS"/>
                <a:ea typeface="Trebuchet MS"/>
              </a:rPr>
              <a:t>84%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320040" y="219456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LSTM Accuracy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20040" y="2487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faa"/>
                </a:solidFill>
                <a:latin typeface="Calibri"/>
              </a:rPr>
              <a:t>Kharif season backtest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2468880" y="1325880"/>
            <a:ext cx="191952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2468880" y="1325880"/>
            <a:ext cx="1919520" cy="5400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2468880" y="1417320"/>
            <a:ext cx="1919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d7fd4"/>
                </a:solidFill>
                <a:latin typeface="Trebuchet MS"/>
                <a:ea typeface="Trebuchet MS"/>
              </a:rPr>
              <a:t>6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2468880" y="219456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Data Sources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2468880" y="2487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faa"/>
                </a:solidFill>
                <a:latin typeface="Calibri"/>
              </a:rPr>
              <a:t>Govt &amp; open APIs fused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4617720" y="1325880"/>
            <a:ext cx="191952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4617720" y="1325880"/>
            <a:ext cx="1919520" cy="54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4617720" y="1417320"/>
            <a:ext cx="1919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59e0b"/>
                </a:solidFill>
                <a:latin typeface="Trebuchet MS"/>
                <a:ea typeface="Trebuchet MS"/>
              </a:rPr>
              <a:t>5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4617720" y="219456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SDG Dimensions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4617720" y="2487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faa"/>
                </a:solidFill>
                <a:latin typeface="Calibri"/>
              </a:rPr>
              <a:t>Sustainability framework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6766560" y="1325880"/>
            <a:ext cx="191952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9"/>
          <p:cNvSpPr/>
          <p:nvPr/>
        </p:nvSpPr>
        <p:spPr>
          <a:xfrm>
            <a:off x="6766560" y="1325880"/>
            <a:ext cx="1919520" cy="54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6766560" y="1417320"/>
            <a:ext cx="19195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6b35"/>
                </a:solidFill>
                <a:latin typeface="Trebuchet MS"/>
                <a:ea typeface="Trebuchet MS"/>
              </a:rPr>
              <a:t>15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6766560" y="2194560"/>
            <a:ext cx="1919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States Scalable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6766560" y="248724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b8faa"/>
                </a:solidFill>
                <a:latin typeface="Calibri"/>
              </a:rPr>
              <a:t>After Haryana pilot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320040" y="3090600"/>
            <a:ext cx="402264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457200" y="31546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896"/>
                </a:solidFill>
                <a:latin typeface="Calibri"/>
              </a:rPr>
              <a:t>Validation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457200" y="356616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10 years of Haryana crop-yield data (NSSO)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457200" y="384048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eNAM live mandi price integration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457200" y="411480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PM-KISAN, PMFBY, PMKSY policy logic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457200" y="438912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7 farmer profiles modelled &amp; tested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4663440" y="3090600"/>
            <a:ext cx="406836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4800600" y="315468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7fd4"/>
                </a:solidFill>
                <a:latin typeface="Calibri"/>
              </a:rPr>
              <a:t>Roadmap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4800600" y="356616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Phase 1: Haryana pilot — 500 farmers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2"/>
          <p:cNvSpPr/>
          <p:nvPr/>
        </p:nvSpPr>
        <p:spPr>
          <a:xfrm>
            <a:off x="4800600" y="384048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Phase 2: Punjab + UP — 50,000 users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3"/>
          <p:cNvSpPr/>
          <p:nvPr/>
        </p:nvSpPr>
        <p:spPr>
          <a:xfrm>
            <a:off x="4800600" y="411480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Phase 3: National rollout — 15 states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34"/>
          <p:cNvSpPr/>
          <p:nvPr/>
        </p:nvSpPr>
        <p:spPr>
          <a:xfrm>
            <a:off x="4800600" y="4389120"/>
            <a:ext cx="3748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c8d8ee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B2G licensing to state agri departments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320040" y="2743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59e0b"/>
                </a:solidFill>
                <a:latin typeface="Calibri"/>
              </a:rPr>
              <a:t>BUSINESS MODEL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320040" y="567000"/>
            <a:ext cx="8411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Three Revenue Streams, One Mission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3"/>
          <p:cNvSpPr/>
          <p:nvPr/>
        </p:nvSpPr>
        <p:spPr>
          <a:xfrm>
            <a:off x="320040" y="1353240"/>
            <a:ext cx="2651040" cy="2559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7fd4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320040" y="1353240"/>
            <a:ext cx="2651040" cy="54000"/>
          </a:xfrm>
          <a:prstGeom prst="rect">
            <a:avLst/>
          </a:prstGeom>
          <a:solidFill>
            <a:srgbClr val="0d7fd4"/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502920" y="1481400"/>
            <a:ext cx="639360" cy="273600"/>
          </a:xfrm>
          <a:prstGeom prst="rect">
            <a:avLst/>
          </a:prstGeom>
          <a:solidFill>
            <a:srgbClr val="0d7fd4">
              <a:alpha val="30000"/>
            </a:srgbClr>
          </a:solidFill>
          <a:ln w="12700">
            <a:solidFill>
              <a:srgbClr val="0d7f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502920" y="146304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7fd4"/>
                </a:solidFill>
                <a:latin typeface="Calibri"/>
              </a:rPr>
              <a:t>B2G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3" name="Image 0" descr="preencoded.png"/>
          <p:cNvPicPr/>
          <p:nvPr/>
        </p:nvPicPr>
        <p:blipFill>
          <a:blip r:embed="rId1"/>
          <a:stretch/>
        </p:blipFill>
        <p:spPr>
          <a:xfrm>
            <a:off x="1325880" y="15087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04" name="Text 7"/>
          <p:cNvSpPr/>
          <p:nvPr/>
        </p:nvSpPr>
        <p:spPr>
          <a:xfrm>
            <a:off x="457200" y="21488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Government Licensing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457200" y="2541960"/>
            <a:ext cx="2395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Sell to state agriculture departments as an AI policy tool for farmer welfare programs and scheme monitoring.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3200400" y="1353240"/>
            <a:ext cx="2651040" cy="2559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0"/>
          <p:cNvSpPr/>
          <p:nvPr/>
        </p:nvSpPr>
        <p:spPr>
          <a:xfrm>
            <a:off x="3200400" y="1353240"/>
            <a:ext cx="2651040" cy="54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3383280" y="1481400"/>
            <a:ext cx="639360" cy="273600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3383280" y="146304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c896"/>
                </a:solidFill>
                <a:latin typeface="Calibri"/>
              </a:rPr>
              <a:t>B2B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0" name="Image 1" descr="preencoded.png"/>
          <p:cNvPicPr/>
          <p:nvPr/>
        </p:nvPicPr>
        <p:blipFill>
          <a:blip r:embed="rId2"/>
          <a:stretch/>
        </p:blipFill>
        <p:spPr>
          <a:xfrm>
            <a:off x="4206240" y="15087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11" name="Text 13"/>
          <p:cNvSpPr/>
          <p:nvPr/>
        </p:nvSpPr>
        <p:spPr>
          <a:xfrm>
            <a:off x="3337560" y="21488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Agri-Input Companies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3337560" y="2541960"/>
            <a:ext cx="2395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License advisory engine to fertilizer, seed, and equipment companies for hyper-targeted farmer outreach.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6080760" y="1353240"/>
            <a:ext cx="2651040" cy="25596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6080760" y="1353240"/>
            <a:ext cx="2651040" cy="54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7"/>
          <p:cNvSpPr/>
          <p:nvPr/>
        </p:nvSpPr>
        <p:spPr>
          <a:xfrm>
            <a:off x="6263640" y="1481400"/>
            <a:ext cx="639360" cy="27360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8"/>
          <p:cNvSpPr/>
          <p:nvPr/>
        </p:nvSpPr>
        <p:spPr>
          <a:xfrm>
            <a:off x="6263640" y="146304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9e0b"/>
                </a:solidFill>
                <a:latin typeface="Calibri"/>
              </a:rPr>
              <a:t>B2C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2" descr="preencoded.png"/>
          <p:cNvPicPr/>
          <p:nvPr/>
        </p:nvPicPr>
        <p:blipFill>
          <a:blip r:embed="rId3"/>
          <a:stretch/>
        </p:blipFill>
        <p:spPr>
          <a:xfrm>
            <a:off x="7086600" y="1508760"/>
            <a:ext cx="502200" cy="502200"/>
          </a:xfrm>
          <a:prstGeom prst="rect">
            <a:avLst/>
          </a:prstGeom>
          <a:ln w="0">
            <a:noFill/>
          </a:ln>
        </p:spPr>
      </p:pic>
      <p:sp>
        <p:nvSpPr>
          <p:cNvPr id="218" name="Text 19"/>
          <p:cNvSpPr/>
          <p:nvPr/>
        </p:nvSpPr>
        <p:spPr>
          <a:xfrm>
            <a:off x="6217920" y="214884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Freemium App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0"/>
          <p:cNvSpPr/>
          <p:nvPr/>
        </p:nvSpPr>
        <p:spPr>
          <a:xfrm>
            <a:off x="6217920" y="2541960"/>
            <a:ext cx="2395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Free advisory + premium soil analysis, full sustainability reports, and personalized agronomy consultations.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21"/>
          <p:cNvSpPr/>
          <p:nvPr/>
        </p:nvSpPr>
        <p:spPr>
          <a:xfrm>
            <a:off x="320040" y="4041720"/>
            <a:ext cx="8411760" cy="749160"/>
          </a:xfrm>
          <a:prstGeom prst="rect">
            <a:avLst/>
          </a:prstGeom>
          <a:solidFill>
            <a:srgbClr val="0d1f38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2"/>
          <p:cNvSpPr/>
          <p:nvPr/>
        </p:nvSpPr>
        <p:spPr>
          <a:xfrm>
            <a:off x="502920" y="413316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Competitive Moat: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3"/>
          <p:cNvSpPr/>
          <p:nvPr/>
        </p:nvSpPr>
        <p:spPr>
          <a:xfrm>
            <a:off x="2176200" y="4133160"/>
            <a:ext cx="6400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8d8ee"/>
                </a:solidFill>
                <a:latin typeface="Calibri"/>
              </a:rPr>
              <a:t>Unlike Kisan Suvidha (information portal), KrishiMitra is a personalized decision engine — specific to YOUR land, YOUR soil, YOUR crop history. Combined with a patent-pending sustainability framework, this is defensible IP.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-914400" y="-914400"/>
            <a:ext cx="5485680" cy="5485680"/>
          </a:xfrm>
          <a:prstGeom prst="ellipse">
            <a:avLst/>
          </a:prstGeom>
          <a:solidFill>
            <a:srgbClr val="00c896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5943600" y="1371600"/>
            <a:ext cx="4114080" cy="4114080"/>
          </a:xfrm>
          <a:prstGeom prst="ellipse">
            <a:avLst/>
          </a:prstGeom>
          <a:solidFill>
            <a:srgbClr val="0d7fd4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0" y="0"/>
            <a:ext cx="63360" cy="514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457200" y="594360"/>
            <a:ext cx="8228880" cy="1599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457200" y="594360"/>
            <a:ext cx="63360" cy="1599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58440" y="685800"/>
            <a:ext cx="78631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8d8ee"/>
                </a:solidFill>
                <a:latin typeface="Georgia"/>
                <a:ea typeface="Georgia"/>
              </a:rPr>
              <a:t>"Every year, Indian farmers lose ₹63,000 crore - not because the land is bad, but because the decision is wrong. Wrong crop. Wrong time. Wrong input."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320040" y="2377440"/>
            <a:ext cx="8411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94" strike="noStrike">
                <a:solidFill>
                  <a:srgbClr val="ffffff"/>
                </a:solidFill>
                <a:latin typeface="Trebuchet MS"/>
                <a:ea typeface="Trebuchet MS"/>
              </a:rPr>
              <a:t>WE ARE BUILDING THE MISSING LAYER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320040" y="288036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6b8faa"/>
                </a:solidFill>
                <a:latin typeface="Calibri"/>
              </a:rPr>
              <a:t>Between India's 140 million farmers and the digital economy.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502920" y="3429000"/>
            <a:ext cx="2468160" cy="749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02920" y="349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Voice-First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502920" y="3803760"/>
            <a:ext cx="2468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No literacy barrier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3291840" y="3429000"/>
            <a:ext cx="2468160" cy="749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3291840" y="349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High Impact on lives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3291840" y="3803760"/>
            <a:ext cx="2468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Farmers &amp; Industries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6080760" y="3429000"/>
            <a:ext cx="2468160" cy="749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6080760" y="349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896"/>
                </a:solidFill>
                <a:latin typeface="Calibri"/>
              </a:rPr>
              <a:t>Pilot-Ready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6080760" y="3803760"/>
            <a:ext cx="24681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8faa"/>
                </a:solidFill>
                <a:latin typeface="Calibri"/>
              </a:rPr>
              <a:t>Haryana → 15 States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1"/>
          <a:stretch/>
        </p:blipFill>
        <p:spPr>
          <a:xfrm>
            <a:off x="8092440" y="4160520"/>
            <a:ext cx="685080" cy="685080"/>
          </a:xfrm>
          <a:prstGeom prst="rect">
            <a:avLst/>
          </a:prstGeom>
          <a:ln w="0">
            <a:noFill/>
          </a:ln>
        </p:spPr>
      </p:pic>
      <p:sp>
        <p:nvSpPr>
          <p:cNvPr id="241" name="Text 17"/>
          <p:cNvSpPr/>
          <p:nvPr/>
        </p:nvSpPr>
        <p:spPr>
          <a:xfrm>
            <a:off x="320040" y="4663440"/>
            <a:ext cx="758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a"/>
                </a:solidFill>
                <a:latin typeface="Calibri"/>
              </a:rPr>
              <a:t>KhetiMitra  •  Intelligent Farming for India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2026-03-30T18:10:37Z</dcterms:created>
  <dc:creator>PptxGenJS</dc:creator>
  <dc:description/>
  <dc:language>en-US</dc:language>
  <cp:lastModifiedBy/>
  <dcterms:modified xsi:type="dcterms:W3CDTF">2026-04-27T02:20:08Z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